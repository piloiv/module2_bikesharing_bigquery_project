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D259E4D-86DB-4C31-A3CD-8B986A8412EE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85725" cy="857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A39303-5233-402C-8DA5-6066538185EC}"/>
              </a:ext>
            </a:extLst>
          </p:cNvPr>
          <p:cNvSpPr>
            <a:spLocks noGrp="1"/>
          </p:cNvSpPr>
          <p:nvPr/>
        </p:nvSpPr>
        <p:spPr>
          <a:xfrm>
            <a:off x="628650" y="295275"/>
            <a:ext cx="3429000" cy="22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dirty="0"/>
              <a:t>EXECUTIVE 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3C9A92-A058-4315-8DC7-EE49815B82B8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6B0EDF-741B-4866-8379-ED4FB4F650D8}"/>
              </a:ext>
            </a:extLst>
          </p:cNvPr>
          <p:cNvSpPr>
            <a:spLocks noGrp="1"/>
          </p:cNvSpPr>
          <p:nvPr/>
        </p:nvSpPr>
        <p:spPr>
          <a:xfrm>
            <a:off x="457200" y="6248400"/>
            <a:ext cx="10839450" cy="9525"/>
          </a:xfrm>
          <a:prstGeom prst="rect">
            <a:avLst/>
          </a:prstGeom>
          <a:solidFill>
            <a:srgbClr val="E8E3DA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D59CDF-1D5B-47C1-89D3-E0C21EBC2E0E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7810500" cy="8763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A tested analytics pipeline turns 83M bike trips into operating signals.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DB9661-52CE-46D2-8039-2D04F825759D}"/>
              </a:ext>
            </a:extLst>
          </p:cNvPr>
          <p:cNvSpPr>
            <a:spLocks noGrp="1"/>
          </p:cNvSpPr>
          <p:nvPr/>
        </p:nvSpPr>
        <p:spPr>
          <a:xfrm>
            <a:off x="457200" y="1695450"/>
            <a:ext cx="7429500" cy="609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London Bicycles public data was transformed in BigQuery with dbt, tested for quality, and analyzed in Python for demand and rebalancing decisions.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38150D-77E4-4406-926F-957DF43CC8BD}"/>
              </a:ext>
            </a:extLst>
          </p:cNvPr>
          <p:cNvSpPr>
            <a:spLocks noGrp="1"/>
          </p:cNvSpPr>
          <p:nvPr/>
        </p:nvSpPr>
        <p:spPr>
          <a:xfrm>
            <a:off x="514350" y="2876550"/>
            <a:ext cx="17716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7DE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F1338C-5879-4224-8806-3E4ED30953A6}"/>
              </a:ext>
            </a:extLst>
          </p:cNvPr>
          <p:cNvSpPr>
            <a:spLocks noGrp="1"/>
          </p:cNvSpPr>
          <p:nvPr/>
        </p:nvSpPr>
        <p:spPr>
          <a:xfrm>
            <a:off x="514350" y="2876550"/>
            <a:ext cx="1771650" cy="476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D599B7-027F-4E02-AB95-3821B1AEA868}"/>
              </a:ext>
            </a:extLst>
          </p:cNvPr>
          <p:cNvSpPr>
            <a:spLocks noGrp="1"/>
          </p:cNvSpPr>
          <p:nvPr/>
        </p:nvSpPr>
        <p:spPr>
          <a:xfrm>
            <a:off x="647700" y="3086100"/>
            <a:ext cx="1504950" cy="3238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4285F4"/>
                </a:solidFill>
                <a:latin typeface="Aptos"/>
                <a:ea typeface="Aptos"/>
                <a:cs typeface="Aptos"/>
              </a:defRPr>
            </a:pPr>
            <a:r>
              <a:t>83.4M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24D2F7-5BD7-45F4-993A-2BE981B1DC32}"/>
              </a:ext>
            </a:extLst>
          </p:cNvPr>
          <p:cNvSpPr>
            <a:spLocks noGrp="1"/>
          </p:cNvSpPr>
          <p:nvPr/>
        </p:nvSpPr>
        <p:spPr>
          <a:xfrm>
            <a:off x="647700" y="3448050"/>
            <a:ext cx="1504950" cy="3238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valid trips analyzed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6946F-B67B-4B86-B37F-AB246F46C2B9}"/>
              </a:ext>
            </a:extLst>
          </p:cNvPr>
          <p:cNvSpPr>
            <a:spLocks noGrp="1"/>
          </p:cNvSpPr>
          <p:nvPr/>
        </p:nvSpPr>
        <p:spPr>
          <a:xfrm>
            <a:off x="2476500" y="2876550"/>
            <a:ext cx="17716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7DE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77F789-EBA7-4171-94F0-CCDB5FB3D094}"/>
              </a:ext>
            </a:extLst>
          </p:cNvPr>
          <p:cNvSpPr>
            <a:spLocks noGrp="1"/>
          </p:cNvSpPr>
          <p:nvPr/>
        </p:nvSpPr>
        <p:spPr>
          <a:xfrm>
            <a:off x="2476500" y="2876550"/>
            <a:ext cx="1771650" cy="47625"/>
          </a:xfrm>
          <a:prstGeom prst="rect">
            <a:avLst/>
          </a:prstGeom>
          <a:solidFill>
            <a:srgbClr val="EA4335"/>
          </a:solidFill>
          <a:ln w="9525">
            <a:solidFill>
              <a:srgbClr val="EA433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B717AC-94B6-46AD-8A39-06D288863844}"/>
              </a:ext>
            </a:extLst>
          </p:cNvPr>
          <p:cNvSpPr>
            <a:spLocks noGrp="1"/>
          </p:cNvSpPr>
          <p:nvPr/>
        </p:nvSpPr>
        <p:spPr>
          <a:xfrm>
            <a:off x="2609850" y="3086100"/>
            <a:ext cx="1504950" cy="3238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EA4335"/>
                </a:solidFill>
                <a:latin typeface="Aptos"/>
                <a:ea typeface="Aptos"/>
                <a:cs typeface="Aptos"/>
              </a:defRPr>
            </a:pPr>
            <a:r>
              <a:t>17:00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8D2DEC-30C2-4BC9-9C7E-D4CFEBE830F4}"/>
              </a:ext>
            </a:extLst>
          </p:cNvPr>
          <p:cNvSpPr>
            <a:spLocks noGrp="1"/>
          </p:cNvSpPr>
          <p:nvPr/>
        </p:nvSpPr>
        <p:spPr>
          <a:xfrm>
            <a:off x="2609850" y="3448050"/>
            <a:ext cx="1504950" cy="3238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peak start hour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63B20C-9893-4E8F-91FD-C0483D4BC5B8}"/>
              </a:ext>
            </a:extLst>
          </p:cNvPr>
          <p:cNvSpPr>
            <a:spLocks noGrp="1"/>
          </p:cNvSpPr>
          <p:nvPr/>
        </p:nvSpPr>
        <p:spPr>
          <a:xfrm>
            <a:off x="4438650" y="2876550"/>
            <a:ext cx="19621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7DE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8646D4-9304-44B9-81EB-544222C7756B}"/>
              </a:ext>
            </a:extLst>
          </p:cNvPr>
          <p:cNvSpPr>
            <a:spLocks noGrp="1"/>
          </p:cNvSpPr>
          <p:nvPr/>
        </p:nvSpPr>
        <p:spPr>
          <a:xfrm>
            <a:off x="4438650" y="2876550"/>
            <a:ext cx="1962150" cy="47625"/>
          </a:xfrm>
          <a:prstGeom prst="rect">
            <a:avLst/>
          </a:prstGeom>
          <a:solidFill>
            <a:srgbClr val="34A853"/>
          </a:solidFill>
          <a:ln w="9525">
            <a:solidFill>
              <a:srgbClr val="34A853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165CBB-5FFE-4C37-A568-4386D77CBB6B}"/>
              </a:ext>
            </a:extLst>
          </p:cNvPr>
          <p:cNvSpPr>
            <a:spLocks noGrp="1"/>
          </p:cNvSpPr>
          <p:nvPr/>
        </p:nvSpPr>
        <p:spPr>
          <a:xfrm>
            <a:off x="4572000" y="3086100"/>
            <a:ext cx="1695450" cy="3238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34A853"/>
                </a:solidFill>
                <a:latin typeface="Aptos"/>
                <a:ea typeface="Aptos"/>
                <a:cs typeface="Aptos"/>
              </a:defRPr>
            </a:pPr>
            <a:r>
              <a:t>1.31M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900B55-4E27-4218-A4FA-50ADAAF63725}"/>
              </a:ext>
            </a:extLst>
          </p:cNvPr>
          <p:cNvSpPr>
            <a:spLocks noGrp="1"/>
          </p:cNvSpPr>
          <p:nvPr/>
        </p:nvSpPr>
        <p:spPr>
          <a:xfrm>
            <a:off x="4572000" y="3448050"/>
            <a:ext cx="1695450" cy="3238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busiest station activity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1254A7-FF45-4B86-A088-3EB715D4CE5D}"/>
              </a:ext>
            </a:extLst>
          </p:cNvPr>
          <p:cNvSpPr>
            <a:spLocks noGrp="1"/>
          </p:cNvSpPr>
          <p:nvPr/>
        </p:nvSpPr>
        <p:spPr>
          <a:xfrm>
            <a:off x="6591300" y="2876550"/>
            <a:ext cx="15811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7DE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D8247B-E6BD-4D96-B313-02F548133ABE}"/>
              </a:ext>
            </a:extLst>
          </p:cNvPr>
          <p:cNvSpPr>
            <a:spLocks noGrp="1"/>
          </p:cNvSpPr>
          <p:nvPr/>
        </p:nvSpPr>
        <p:spPr>
          <a:xfrm>
            <a:off x="6591300" y="2876550"/>
            <a:ext cx="1581150" cy="47625"/>
          </a:xfrm>
          <a:prstGeom prst="rect">
            <a:avLst/>
          </a:prstGeom>
          <a:solidFill>
            <a:srgbClr val="FBBC05"/>
          </a:solidFill>
          <a:ln w="9525">
            <a:solidFill>
              <a:srgbClr val="FBBC0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132894-FD85-4045-B35A-4290FFBB9EFF}"/>
              </a:ext>
            </a:extLst>
          </p:cNvPr>
          <p:cNvSpPr>
            <a:spLocks noGrp="1"/>
          </p:cNvSpPr>
          <p:nvPr/>
        </p:nvSpPr>
        <p:spPr>
          <a:xfrm>
            <a:off x="6724650" y="3086100"/>
            <a:ext cx="1314450" cy="3238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BBC05"/>
                </a:solidFill>
                <a:latin typeface="Aptos"/>
                <a:ea typeface="Aptos"/>
                <a:cs typeface="Aptos"/>
              </a:defRPr>
            </a:pPr>
            <a:r>
              <a:t>0 errors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36AD23-DB2C-4D99-A081-54E0FBE71320}"/>
              </a:ext>
            </a:extLst>
          </p:cNvPr>
          <p:cNvSpPr>
            <a:spLocks noGrp="1"/>
          </p:cNvSpPr>
          <p:nvPr/>
        </p:nvSpPr>
        <p:spPr>
          <a:xfrm>
            <a:off x="6724650" y="3448050"/>
            <a:ext cx="1314450" cy="3238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dbt test result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6BCD5A-D860-4346-9907-8FB64BD1CE9B}"/>
              </a:ext>
            </a:extLst>
          </p:cNvPr>
          <p:cNvSpPr>
            <a:spLocks noGrp="1"/>
          </p:cNvSpPr>
          <p:nvPr/>
        </p:nvSpPr>
        <p:spPr>
          <a:xfrm>
            <a:off x="8705850" y="819150"/>
            <a:ext cx="2476500" cy="4191000"/>
          </a:xfrm>
          <a:prstGeom prst="rect">
            <a:avLst/>
          </a:prstGeom>
          <a:solidFill>
            <a:srgbClr val="18212B"/>
          </a:solidFill>
          <a:ln w="9525">
            <a:solidFill>
              <a:srgbClr val="18212B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4B583E7-8466-403D-B478-A15764839725}"/>
              </a:ext>
            </a:extLst>
          </p:cNvPr>
          <p:cNvSpPr>
            <a:spLocks noGrp="1"/>
          </p:cNvSpPr>
          <p:nvPr/>
        </p:nvSpPr>
        <p:spPr>
          <a:xfrm>
            <a:off x="8953500" y="1162050"/>
            <a:ext cx="1952625" cy="2476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D3FF"/>
                </a:solidFill>
                <a:latin typeface="Aptos"/>
                <a:ea typeface="Aptos"/>
                <a:cs typeface="Aptos"/>
              </a:defRPr>
            </a:pPr>
            <a:r>
              <a:t>Main recommendation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E8228A-7A65-4320-BAEF-DD3AF77B76E2}"/>
              </a:ext>
            </a:extLst>
          </p:cNvPr>
          <p:cNvSpPr>
            <a:spLocks noGrp="1"/>
          </p:cNvSpPr>
          <p:nvPr/>
        </p:nvSpPr>
        <p:spPr>
          <a:xfrm>
            <a:off x="8953500" y="1562100"/>
            <a:ext cx="1962150" cy="16192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dirty="0"/>
              <a:t>Prioritize bike rebalancing around Waterloo Station 2 and dock monitoring around Hop Exchange.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083E95-51A1-4E89-912C-DE351076F1EB}"/>
              </a:ext>
            </a:extLst>
          </p:cNvPr>
          <p:cNvSpPr>
            <a:spLocks noGrp="1"/>
          </p:cNvSpPr>
          <p:nvPr/>
        </p:nvSpPr>
        <p:spPr>
          <a:xfrm>
            <a:off x="8953500" y="3790950"/>
            <a:ext cx="1809750" cy="9525"/>
          </a:xfrm>
          <a:prstGeom prst="rect">
            <a:avLst/>
          </a:prstGeom>
          <a:solidFill>
            <a:srgbClr val="44505E"/>
          </a:solidFill>
          <a:ln w="9525">
            <a:solidFill>
              <a:srgbClr val="44505E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DFC4C9-534A-4F4F-ABDA-AFC1EC9EB7A3}"/>
              </a:ext>
            </a:extLst>
          </p:cNvPr>
          <p:cNvSpPr>
            <a:spLocks noGrp="1"/>
          </p:cNvSpPr>
          <p:nvPr/>
        </p:nvSpPr>
        <p:spPr>
          <a:xfrm>
            <a:off x="8953500" y="3857625"/>
            <a:ext cx="1952625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D3FF"/>
                </a:solidFill>
                <a:latin typeface="Aptos"/>
                <a:ea typeface="Aptos"/>
                <a:cs typeface="Aptos"/>
              </a:defRPr>
            </a:pPr>
            <a:r>
              <a:t>Why it matters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F3660B-B5D5-4043-8AAF-09243D8C7E80}"/>
              </a:ext>
            </a:extLst>
          </p:cNvPr>
          <p:cNvSpPr>
            <a:spLocks noGrp="1"/>
          </p:cNvSpPr>
          <p:nvPr/>
        </p:nvSpPr>
        <p:spPr>
          <a:xfrm>
            <a:off x="8953500" y="4171950"/>
            <a:ext cx="1962150" cy="6477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7EEF8"/>
                </a:solidFill>
                <a:latin typeface="Aptos"/>
                <a:ea typeface="Aptos"/>
                <a:cs typeface="Aptos"/>
              </a:defRPr>
            </a:pPr>
            <a:r>
              <a:t>The pattern is operationally actionable: departures and arrivals are not evenly balanced across stations.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12C243-C6E8-4CAA-803B-048701BF7683}"/>
              </a:ext>
            </a:extLst>
          </p:cNvPr>
          <p:cNvSpPr>
            <a:spLocks noGrp="1"/>
          </p:cNvSpPr>
          <p:nvPr/>
        </p:nvSpPr>
        <p:spPr>
          <a:xfrm>
            <a:off x="457200" y="6343650"/>
            <a:ext cx="857250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Aptos"/>
                <a:ea typeface="Aptos"/>
                <a:cs typeface="Aptos"/>
              </a:defRPr>
            </a:pPr>
            <a:r>
              <a:t>Source: BigQuery public London Bicycles dataset; dbt marts in london_bicycles_analytics.</a:t>
            </a:r>
          </a:p>
        </p:txBody>
      </p:sp>
    </p:spTree>
    <p:extLst>
      <p:ext uri="{BB962C8B-B14F-4D97-AF65-F5344CB8AC3E}">
        <p14:creationId xmlns:p14="http://schemas.microsoft.com/office/powerpoint/2010/main" val="501789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3509C72-AAB0-4923-9C77-36783DD1F9C0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85725" cy="857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384F2A-183C-4783-B5A8-6FFDB2A90E44}"/>
              </a:ext>
            </a:extLst>
          </p:cNvPr>
          <p:cNvSpPr>
            <a:spLocks noGrp="1"/>
          </p:cNvSpPr>
          <p:nvPr/>
        </p:nvSpPr>
        <p:spPr>
          <a:xfrm>
            <a:off x="628650" y="295275"/>
            <a:ext cx="3429000" cy="22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27933B-6400-4E71-B8FB-3490502DF0C4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50E25D-5C29-45DE-912C-34D0ED7430F8}"/>
              </a:ext>
            </a:extLst>
          </p:cNvPr>
          <p:cNvSpPr>
            <a:spLocks noGrp="1"/>
          </p:cNvSpPr>
          <p:nvPr/>
        </p:nvSpPr>
        <p:spPr>
          <a:xfrm>
            <a:off x="457200" y="6248400"/>
            <a:ext cx="10839450" cy="9525"/>
          </a:xfrm>
          <a:prstGeom prst="rect">
            <a:avLst/>
          </a:prstGeom>
          <a:solidFill>
            <a:srgbClr val="E8E3DA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B973B2-958E-4F98-B786-F106587B07AF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7810500" cy="8763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The pipeline is deliberately simple: public source, tested marts, executive outputs.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B13DA2-8503-4509-B0EF-B84D84DB2698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7810500" cy="4572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This design avoids local data movement while keeping transformations version-controlled and repeatable.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EB2DFA-ABAD-47EE-833E-8D8C55BBD90F}"/>
              </a:ext>
            </a:extLst>
          </p:cNvPr>
          <p:cNvSpPr>
            <a:spLocks noGrp="1"/>
          </p:cNvSpPr>
          <p:nvPr/>
        </p:nvSpPr>
        <p:spPr>
          <a:xfrm>
            <a:off x="571500" y="2724150"/>
            <a:ext cx="16954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DFDA73-2C7E-4A4F-AB26-3582E13A2014}"/>
              </a:ext>
            </a:extLst>
          </p:cNvPr>
          <p:cNvSpPr>
            <a:spLocks noGrp="1"/>
          </p:cNvSpPr>
          <p:nvPr/>
        </p:nvSpPr>
        <p:spPr>
          <a:xfrm>
            <a:off x="571500" y="2724150"/>
            <a:ext cx="1695450" cy="476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8D5D1B-1A6B-4378-ABCC-72C2C5B4CD25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139065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Public source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8C431F-6A40-468B-ACAF-926733EA4E56}"/>
              </a:ext>
            </a:extLst>
          </p:cNvPr>
          <p:cNvSpPr>
            <a:spLocks noGrp="1"/>
          </p:cNvSpPr>
          <p:nvPr/>
        </p:nvSpPr>
        <p:spPr>
          <a:xfrm>
            <a:off x="723900" y="3200400"/>
            <a:ext cx="1390650" cy="3238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BigQuery London Bicycles cycle_hire and cycle_stations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3403A2-F515-4493-942D-ACFB745EE1D3}"/>
              </a:ext>
            </a:extLst>
          </p:cNvPr>
          <p:cNvSpPr>
            <a:spLocks noGrp="1"/>
          </p:cNvSpPr>
          <p:nvPr/>
        </p:nvSpPr>
        <p:spPr>
          <a:xfrm>
            <a:off x="2667000" y="2724150"/>
            <a:ext cx="16954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596D35-B5DB-40F6-B792-67113DE8AACB}"/>
              </a:ext>
            </a:extLst>
          </p:cNvPr>
          <p:cNvSpPr>
            <a:spLocks noGrp="1"/>
          </p:cNvSpPr>
          <p:nvPr/>
        </p:nvSpPr>
        <p:spPr>
          <a:xfrm>
            <a:off x="2667000" y="2724150"/>
            <a:ext cx="1695450" cy="47625"/>
          </a:xfrm>
          <a:prstGeom prst="rect">
            <a:avLst/>
          </a:prstGeom>
          <a:solidFill>
            <a:srgbClr val="34A853"/>
          </a:solidFill>
          <a:ln w="9525">
            <a:solidFill>
              <a:srgbClr val="34A853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E0D2AC-88D4-4D08-B8BD-81869436B3AC}"/>
              </a:ext>
            </a:extLst>
          </p:cNvPr>
          <p:cNvSpPr>
            <a:spLocks noGrp="1"/>
          </p:cNvSpPr>
          <p:nvPr/>
        </p:nvSpPr>
        <p:spPr>
          <a:xfrm>
            <a:off x="2819400" y="2914650"/>
            <a:ext cx="139065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Warehouse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C25A2A-86AD-4BD7-A2BB-6F2A4B26AFAB}"/>
              </a:ext>
            </a:extLst>
          </p:cNvPr>
          <p:cNvSpPr>
            <a:spLocks noGrp="1"/>
          </p:cNvSpPr>
          <p:nvPr/>
        </p:nvSpPr>
        <p:spPr>
          <a:xfrm>
            <a:off x="2819400" y="3200400"/>
            <a:ext cx="1390650" cy="3238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Project dataset london_bicycles_analytics in EU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8045FA-8939-47E8-A50B-57BC29BDD7ED}"/>
              </a:ext>
            </a:extLst>
          </p:cNvPr>
          <p:cNvSpPr>
            <a:spLocks noGrp="1"/>
          </p:cNvSpPr>
          <p:nvPr/>
        </p:nvSpPr>
        <p:spPr>
          <a:xfrm>
            <a:off x="4762500" y="2724150"/>
            <a:ext cx="16954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3E1063-9B9B-4626-8B45-16F286243C97}"/>
              </a:ext>
            </a:extLst>
          </p:cNvPr>
          <p:cNvSpPr>
            <a:spLocks noGrp="1"/>
          </p:cNvSpPr>
          <p:nvPr/>
        </p:nvSpPr>
        <p:spPr>
          <a:xfrm>
            <a:off x="4762500" y="2724150"/>
            <a:ext cx="1695450" cy="47625"/>
          </a:xfrm>
          <a:prstGeom prst="rect">
            <a:avLst/>
          </a:prstGeom>
          <a:solidFill>
            <a:srgbClr val="FBBC05"/>
          </a:solidFill>
          <a:ln w="9525">
            <a:solidFill>
              <a:srgbClr val="FBBC0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3C5E78-C1AD-4568-A6C2-0E2DB58C8812}"/>
              </a:ext>
            </a:extLst>
          </p:cNvPr>
          <p:cNvSpPr>
            <a:spLocks noGrp="1"/>
          </p:cNvSpPr>
          <p:nvPr/>
        </p:nvSpPr>
        <p:spPr>
          <a:xfrm>
            <a:off x="4914900" y="2914650"/>
            <a:ext cx="139065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dbt ELT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5B3ECF-D722-4314-A023-79B9CF305D23}"/>
              </a:ext>
            </a:extLst>
          </p:cNvPr>
          <p:cNvSpPr>
            <a:spLocks noGrp="1"/>
          </p:cNvSpPr>
          <p:nvPr/>
        </p:nvSpPr>
        <p:spPr>
          <a:xfrm>
            <a:off x="4914900" y="3200400"/>
            <a:ext cx="1390650" cy="3238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Staging, dimensions, fact table, and marts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F3706E-FFB1-4925-BFE7-2484503525FE}"/>
              </a:ext>
            </a:extLst>
          </p:cNvPr>
          <p:cNvSpPr>
            <a:spLocks noGrp="1"/>
          </p:cNvSpPr>
          <p:nvPr/>
        </p:nvSpPr>
        <p:spPr>
          <a:xfrm>
            <a:off x="6858000" y="2724150"/>
            <a:ext cx="16954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66F733-FEA3-43A2-A419-0D0C57555463}"/>
              </a:ext>
            </a:extLst>
          </p:cNvPr>
          <p:cNvSpPr>
            <a:spLocks noGrp="1"/>
          </p:cNvSpPr>
          <p:nvPr/>
        </p:nvSpPr>
        <p:spPr>
          <a:xfrm>
            <a:off x="6858000" y="2724150"/>
            <a:ext cx="1695450" cy="47625"/>
          </a:xfrm>
          <a:prstGeom prst="rect">
            <a:avLst/>
          </a:prstGeom>
          <a:solidFill>
            <a:srgbClr val="EA4335"/>
          </a:solidFill>
          <a:ln w="9525">
            <a:solidFill>
              <a:srgbClr val="EA433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73E6E8-B3CF-4A3E-BF7A-02BC62037A78}"/>
              </a:ext>
            </a:extLst>
          </p:cNvPr>
          <p:cNvSpPr>
            <a:spLocks noGrp="1"/>
          </p:cNvSpPr>
          <p:nvPr/>
        </p:nvSpPr>
        <p:spPr>
          <a:xfrm>
            <a:off x="7010400" y="2914650"/>
            <a:ext cx="139065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Quality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29339F-64C9-4C7F-87EB-BBEE6BD18DE2}"/>
              </a:ext>
            </a:extLst>
          </p:cNvPr>
          <p:cNvSpPr>
            <a:spLocks noGrp="1"/>
          </p:cNvSpPr>
          <p:nvPr/>
        </p:nvSpPr>
        <p:spPr>
          <a:xfrm>
            <a:off x="7010400" y="3200400"/>
            <a:ext cx="1390650" cy="3238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17 tests: 12 pass, 5 documented warnings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55C675-EA72-4502-A69E-2150533385A5}"/>
              </a:ext>
            </a:extLst>
          </p:cNvPr>
          <p:cNvSpPr>
            <a:spLocks noGrp="1"/>
          </p:cNvSpPr>
          <p:nvPr/>
        </p:nvSpPr>
        <p:spPr>
          <a:xfrm>
            <a:off x="8953500" y="2724150"/>
            <a:ext cx="16954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57D42D-9B54-4E48-9CD1-0F3125BA66CF}"/>
              </a:ext>
            </a:extLst>
          </p:cNvPr>
          <p:cNvSpPr>
            <a:spLocks noGrp="1"/>
          </p:cNvSpPr>
          <p:nvPr/>
        </p:nvSpPr>
        <p:spPr>
          <a:xfrm>
            <a:off x="8953500" y="2724150"/>
            <a:ext cx="1695450" cy="476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58EEB8-C0F8-4BE4-9F69-3F0775ECB31C}"/>
              </a:ext>
            </a:extLst>
          </p:cNvPr>
          <p:cNvSpPr>
            <a:spLocks noGrp="1"/>
          </p:cNvSpPr>
          <p:nvPr/>
        </p:nvSpPr>
        <p:spPr>
          <a:xfrm>
            <a:off x="9105900" y="2914650"/>
            <a:ext cx="139065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Analysis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194B6B-295C-4D6E-8C87-F6A1584AF6C5}"/>
              </a:ext>
            </a:extLst>
          </p:cNvPr>
          <p:cNvSpPr>
            <a:spLocks noGrp="1"/>
          </p:cNvSpPr>
          <p:nvPr/>
        </p:nvSpPr>
        <p:spPr>
          <a:xfrm>
            <a:off x="9105900" y="3200400"/>
            <a:ext cx="1390650" cy="3238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Python notebook charts and executive findings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0C9914-B396-44A3-8429-150642A71F39}"/>
              </a:ext>
            </a:extLst>
          </p:cNvPr>
          <p:cNvSpPr>
            <a:spLocks noGrp="1"/>
          </p:cNvSpPr>
          <p:nvPr/>
        </p:nvSpPr>
        <p:spPr>
          <a:xfrm>
            <a:off x="2343150" y="3181350"/>
            <a:ext cx="247650" cy="19050"/>
          </a:xfrm>
          <a:prstGeom prst="rect">
            <a:avLst/>
          </a:prstGeom>
          <a:solidFill>
            <a:srgbClr val="667085"/>
          </a:solidFill>
          <a:ln w="9525">
            <a:solidFill>
              <a:srgbClr val="66708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986C21-7134-401E-975E-34C25A8AACD2}"/>
              </a:ext>
            </a:extLst>
          </p:cNvPr>
          <p:cNvSpPr>
            <a:spLocks noGrp="1"/>
          </p:cNvSpPr>
          <p:nvPr/>
        </p:nvSpPr>
        <p:spPr>
          <a:xfrm>
            <a:off x="2514600" y="3067050"/>
            <a:ext cx="19050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48A947-8376-4B05-BC54-1C6938AA8372}"/>
              </a:ext>
            </a:extLst>
          </p:cNvPr>
          <p:cNvSpPr>
            <a:spLocks noGrp="1"/>
          </p:cNvSpPr>
          <p:nvPr/>
        </p:nvSpPr>
        <p:spPr>
          <a:xfrm>
            <a:off x="4438650" y="3181350"/>
            <a:ext cx="247650" cy="19050"/>
          </a:xfrm>
          <a:prstGeom prst="rect">
            <a:avLst/>
          </a:prstGeom>
          <a:solidFill>
            <a:srgbClr val="667085"/>
          </a:solidFill>
          <a:ln w="9525">
            <a:solidFill>
              <a:srgbClr val="66708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014EA5-7C09-4604-BDD0-79889E329C66}"/>
              </a:ext>
            </a:extLst>
          </p:cNvPr>
          <p:cNvSpPr>
            <a:spLocks noGrp="1"/>
          </p:cNvSpPr>
          <p:nvPr/>
        </p:nvSpPr>
        <p:spPr>
          <a:xfrm>
            <a:off x="4610100" y="3067050"/>
            <a:ext cx="19050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3B7480-281E-4D68-A592-2CC379E69A69}"/>
              </a:ext>
            </a:extLst>
          </p:cNvPr>
          <p:cNvSpPr>
            <a:spLocks noGrp="1"/>
          </p:cNvSpPr>
          <p:nvPr/>
        </p:nvSpPr>
        <p:spPr>
          <a:xfrm>
            <a:off x="6534150" y="3181350"/>
            <a:ext cx="247650" cy="19050"/>
          </a:xfrm>
          <a:prstGeom prst="rect">
            <a:avLst/>
          </a:prstGeom>
          <a:solidFill>
            <a:srgbClr val="667085"/>
          </a:solidFill>
          <a:ln w="9525">
            <a:solidFill>
              <a:srgbClr val="66708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1ECBFA-AC7A-4504-B1E2-466C212944DB}"/>
              </a:ext>
            </a:extLst>
          </p:cNvPr>
          <p:cNvSpPr>
            <a:spLocks noGrp="1"/>
          </p:cNvSpPr>
          <p:nvPr/>
        </p:nvSpPr>
        <p:spPr>
          <a:xfrm>
            <a:off x="6705600" y="3067050"/>
            <a:ext cx="19050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28F1BEE-C68B-4152-8E2B-67E8E1272FC8}"/>
              </a:ext>
            </a:extLst>
          </p:cNvPr>
          <p:cNvSpPr>
            <a:spLocks noGrp="1"/>
          </p:cNvSpPr>
          <p:nvPr/>
        </p:nvSpPr>
        <p:spPr>
          <a:xfrm>
            <a:off x="8629650" y="3181350"/>
            <a:ext cx="247650" cy="19050"/>
          </a:xfrm>
          <a:prstGeom prst="rect">
            <a:avLst/>
          </a:prstGeom>
          <a:solidFill>
            <a:srgbClr val="667085"/>
          </a:solidFill>
          <a:ln w="9525">
            <a:solidFill>
              <a:srgbClr val="66708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F546D8-517F-4C4F-9140-ABD2FD33C34D}"/>
              </a:ext>
            </a:extLst>
          </p:cNvPr>
          <p:cNvSpPr>
            <a:spLocks noGrp="1"/>
          </p:cNvSpPr>
          <p:nvPr/>
        </p:nvSpPr>
        <p:spPr>
          <a:xfrm>
            <a:off x="8801100" y="3067050"/>
            <a:ext cx="19050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8A65E8-5F3C-444A-B531-4EC94B6BB286}"/>
              </a:ext>
            </a:extLst>
          </p:cNvPr>
          <p:cNvSpPr>
            <a:spLocks noGrp="1"/>
          </p:cNvSpPr>
          <p:nvPr/>
        </p:nvSpPr>
        <p:spPr>
          <a:xfrm>
            <a:off x="876300" y="4514850"/>
            <a:ext cx="96202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E7CE74-A461-4C4A-92E4-C47FC366BB04}"/>
              </a:ext>
            </a:extLst>
          </p:cNvPr>
          <p:cNvSpPr>
            <a:spLocks noGrp="1"/>
          </p:cNvSpPr>
          <p:nvPr/>
        </p:nvSpPr>
        <p:spPr>
          <a:xfrm>
            <a:off x="1123950" y="4705350"/>
            <a:ext cx="125730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285F4"/>
                </a:solidFill>
                <a:latin typeface="Aptos"/>
                <a:ea typeface="Aptos"/>
                <a:cs typeface="Aptos"/>
              </a:defRPr>
            </a:pPr>
            <a:r>
              <a:t>Design choice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890997-66C0-4066-B79A-B2C7A777B4B0}"/>
              </a:ext>
            </a:extLst>
          </p:cNvPr>
          <p:cNvSpPr>
            <a:spLocks noGrp="1"/>
          </p:cNvSpPr>
          <p:nvPr/>
        </p:nvSpPr>
        <p:spPr>
          <a:xfrm>
            <a:off x="2476500" y="4686300"/>
            <a:ext cx="7429500" cy="4191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Use BigQuery views/tables and dbt marts so repeated analysis avoids scanning the 83M-row public source table every time.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1F174CC-AB6F-46A5-B921-28280727F8D5}"/>
              </a:ext>
            </a:extLst>
          </p:cNvPr>
          <p:cNvSpPr>
            <a:spLocks noGrp="1"/>
          </p:cNvSpPr>
          <p:nvPr/>
        </p:nvSpPr>
        <p:spPr>
          <a:xfrm>
            <a:off x="457200" y="6343650"/>
            <a:ext cx="857250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Aptos"/>
                <a:ea typeface="Aptos"/>
                <a:cs typeface="Aptos"/>
              </a:defRPr>
            </a:pPr>
            <a:r>
              <a:t>Source: project architecture and dbt_london_bicycles model structure.</a:t>
            </a:r>
          </a:p>
        </p:txBody>
      </p:sp>
    </p:spTree>
    <p:extLst>
      <p:ext uri="{BB962C8B-B14F-4D97-AF65-F5344CB8AC3E}">
        <p14:creationId xmlns:p14="http://schemas.microsoft.com/office/powerpoint/2010/main" val="81196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69436AD-AC2A-435E-A7A9-97C6E190B784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85725" cy="857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5BF57D-D381-43E0-8F71-182B0F1D2CEA}"/>
              </a:ext>
            </a:extLst>
          </p:cNvPr>
          <p:cNvSpPr>
            <a:spLocks noGrp="1"/>
          </p:cNvSpPr>
          <p:nvPr/>
        </p:nvSpPr>
        <p:spPr>
          <a:xfrm>
            <a:off x="628650" y="295275"/>
            <a:ext cx="3429000" cy="22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dirty="0"/>
              <a:t>DATA QUALITY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F19E7A-B44C-4621-883F-F1BE1DA75464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42F6E2-767C-41E6-BE3E-9E6A55182834}"/>
              </a:ext>
            </a:extLst>
          </p:cNvPr>
          <p:cNvSpPr>
            <a:spLocks noGrp="1"/>
          </p:cNvSpPr>
          <p:nvPr/>
        </p:nvSpPr>
        <p:spPr>
          <a:xfrm>
            <a:off x="457200" y="6248400"/>
            <a:ext cx="10839450" cy="9525"/>
          </a:xfrm>
          <a:prstGeom prst="rect">
            <a:avLst/>
          </a:prstGeom>
          <a:solidFill>
            <a:srgbClr val="E8E3DA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1BB689-9112-4402-BBA5-A10D468725D2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7810500" cy="8763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400" dirty="0" err="1"/>
              <a:t>dbt</a:t>
            </a:r>
            <a:r>
              <a:rPr sz="2400" dirty="0"/>
              <a:t> passed the build and converted source caveats into visible warnings.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419421-5288-4F61-8D75-686E08505C4C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7810500" cy="4572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The pipeline is operational, and quality tests documented limitations that affect analysis interpretation.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597513-1A49-4138-B6CC-B8728E4EC6B0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16764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6937E6-4750-45DF-85B5-CC2C5968A1AF}"/>
              </a:ext>
            </a:extLst>
          </p:cNvPr>
          <p:cNvSpPr>
            <a:spLocks noGrp="1"/>
          </p:cNvSpPr>
          <p:nvPr/>
        </p:nvSpPr>
        <p:spPr>
          <a:xfrm>
            <a:off x="1028700" y="2647950"/>
            <a:ext cx="1238250" cy="4191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4285F4"/>
                </a:solidFill>
                <a:latin typeface="Aptos"/>
                <a:ea typeface="Aptos"/>
                <a:cs typeface="Aptos"/>
              </a:defRPr>
            </a:pPr>
            <a:r>
              <a:t>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599321-6886-4998-80CD-37F374404154}"/>
              </a:ext>
            </a:extLst>
          </p:cNvPr>
          <p:cNvSpPr>
            <a:spLocks noGrp="1"/>
          </p:cNvSpPr>
          <p:nvPr/>
        </p:nvSpPr>
        <p:spPr>
          <a:xfrm>
            <a:off x="1028700" y="3143250"/>
            <a:ext cx="1238250" cy="2667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Models built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93E437-A93A-49A3-94F8-9D2926FD5B6E}"/>
              </a:ext>
            </a:extLst>
          </p:cNvPr>
          <p:cNvSpPr>
            <a:spLocks noGrp="1"/>
          </p:cNvSpPr>
          <p:nvPr/>
        </p:nvSpPr>
        <p:spPr>
          <a:xfrm>
            <a:off x="2952750" y="2381250"/>
            <a:ext cx="16764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00A3DB-C9D4-4ACB-89AF-E36A7F485240}"/>
              </a:ext>
            </a:extLst>
          </p:cNvPr>
          <p:cNvSpPr>
            <a:spLocks noGrp="1"/>
          </p:cNvSpPr>
          <p:nvPr/>
        </p:nvSpPr>
        <p:spPr>
          <a:xfrm>
            <a:off x="3124200" y="2647950"/>
            <a:ext cx="1238250" cy="4191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34A853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C7C215-8BD4-4138-9878-CB47C5821C40}"/>
              </a:ext>
            </a:extLst>
          </p:cNvPr>
          <p:cNvSpPr>
            <a:spLocks noGrp="1"/>
          </p:cNvSpPr>
          <p:nvPr/>
        </p:nvSpPr>
        <p:spPr>
          <a:xfrm>
            <a:off x="3124200" y="3143250"/>
            <a:ext cx="1238250" cy="2667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Tests passed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91EF2A-506A-45B0-8BFB-890098CA6F72}"/>
              </a:ext>
            </a:extLst>
          </p:cNvPr>
          <p:cNvSpPr>
            <a:spLocks noGrp="1"/>
          </p:cNvSpPr>
          <p:nvPr/>
        </p:nvSpPr>
        <p:spPr>
          <a:xfrm>
            <a:off x="5048250" y="2381250"/>
            <a:ext cx="16764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830C59-7D8B-47F3-AEA3-B47A69B906F8}"/>
              </a:ext>
            </a:extLst>
          </p:cNvPr>
          <p:cNvSpPr>
            <a:spLocks noGrp="1"/>
          </p:cNvSpPr>
          <p:nvPr/>
        </p:nvSpPr>
        <p:spPr>
          <a:xfrm>
            <a:off x="5219700" y="2647950"/>
            <a:ext cx="1238250" cy="4191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BBC05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FC5DA4-739D-42C6-A0E7-3178CBE2B8F9}"/>
              </a:ext>
            </a:extLst>
          </p:cNvPr>
          <p:cNvSpPr>
            <a:spLocks noGrp="1"/>
          </p:cNvSpPr>
          <p:nvPr/>
        </p:nvSpPr>
        <p:spPr>
          <a:xfrm>
            <a:off x="5219700" y="3143250"/>
            <a:ext cx="1238250" cy="2667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Warnings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F51EFF-7B2A-4955-907D-E05DE8D50361}"/>
              </a:ext>
            </a:extLst>
          </p:cNvPr>
          <p:cNvSpPr>
            <a:spLocks noGrp="1"/>
          </p:cNvSpPr>
          <p:nvPr/>
        </p:nvSpPr>
        <p:spPr>
          <a:xfrm>
            <a:off x="7143750" y="2381250"/>
            <a:ext cx="16764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8BC9D5-6095-44CD-BCB4-36912ED9E3E5}"/>
              </a:ext>
            </a:extLst>
          </p:cNvPr>
          <p:cNvSpPr>
            <a:spLocks noGrp="1"/>
          </p:cNvSpPr>
          <p:nvPr/>
        </p:nvSpPr>
        <p:spPr>
          <a:xfrm>
            <a:off x="7315200" y="2647950"/>
            <a:ext cx="1238250" cy="4191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EA4335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283780-A52A-48EB-9286-1C41D258003E}"/>
              </a:ext>
            </a:extLst>
          </p:cNvPr>
          <p:cNvSpPr>
            <a:spLocks noGrp="1"/>
          </p:cNvSpPr>
          <p:nvPr/>
        </p:nvSpPr>
        <p:spPr>
          <a:xfrm>
            <a:off x="7315200" y="3143250"/>
            <a:ext cx="1238250" cy="2667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Errors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FFF21C-C0FC-4068-A109-C99DA2DD2A58}"/>
              </a:ext>
            </a:extLst>
          </p:cNvPr>
          <p:cNvSpPr>
            <a:spLocks noGrp="1"/>
          </p:cNvSpPr>
          <p:nvPr/>
        </p:nvSpPr>
        <p:spPr>
          <a:xfrm>
            <a:off x="857250" y="4210049"/>
            <a:ext cx="8858250" cy="1238249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656E6F-5482-4D7C-9AEB-41E017546AD9}"/>
              </a:ext>
            </a:extLst>
          </p:cNvPr>
          <p:cNvSpPr>
            <a:spLocks noGrp="1"/>
          </p:cNvSpPr>
          <p:nvPr/>
        </p:nvSpPr>
        <p:spPr>
          <a:xfrm>
            <a:off x="1104900" y="4419600"/>
            <a:ext cx="171450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Warnings to disclose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B12B9D-DB94-4593-ADD9-520E3CBE9497}"/>
              </a:ext>
            </a:extLst>
          </p:cNvPr>
          <p:cNvSpPr>
            <a:spLocks noGrp="1"/>
          </p:cNvSpPr>
          <p:nvPr/>
        </p:nvSpPr>
        <p:spPr>
          <a:xfrm>
            <a:off x="2933700" y="4400550"/>
            <a:ext cx="6191250" cy="5143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Invalid or missing durations; missing start station IDs; historical station IDs not always matching the current station reference table.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CEC89B-28DD-41C8-8451-ED6FB2991AB2}"/>
              </a:ext>
            </a:extLst>
          </p:cNvPr>
          <p:cNvSpPr>
            <a:spLocks noGrp="1"/>
          </p:cNvSpPr>
          <p:nvPr/>
        </p:nvSpPr>
        <p:spPr>
          <a:xfrm>
            <a:off x="1104900" y="4953000"/>
            <a:ext cx="8572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EA4335"/>
                </a:solidFill>
                <a:latin typeface="Aptos"/>
                <a:ea typeface="Aptos"/>
                <a:cs typeface="Aptos"/>
              </a:defRPr>
            </a:pPr>
            <a:r>
              <a:t>Impact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4C2083-48E1-427C-B607-19D1BCBED1F6}"/>
              </a:ext>
            </a:extLst>
          </p:cNvPr>
          <p:cNvSpPr>
            <a:spLocks noGrp="1"/>
          </p:cNvSpPr>
          <p:nvPr/>
        </p:nvSpPr>
        <p:spPr>
          <a:xfrm>
            <a:off x="2933700" y="4953000"/>
            <a:ext cx="619125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dirty="0"/>
              <a:t>Duration metrics are filtered; station analysis includes a documented reference-data limitation.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142565-E8A8-438D-B841-1CE801440CF3}"/>
              </a:ext>
            </a:extLst>
          </p:cNvPr>
          <p:cNvSpPr>
            <a:spLocks noGrp="1"/>
          </p:cNvSpPr>
          <p:nvPr/>
        </p:nvSpPr>
        <p:spPr>
          <a:xfrm>
            <a:off x="457200" y="6343650"/>
            <a:ext cx="857250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Aptos"/>
                <a:ea typeface="Aptos"/>
                <a:cs typeface="Aptos"/>
              </a:defRPr>
            </a:pPr>
            <a:r>
              <a:t>Source: dbt test run; docs/data_quality_findings.md.</a:t>
            </a:r>
          </a:p>
        </p:txBody>
      </p:sp>
    </p:spTree>
    <p:extLst>
      <p:ext uri="{BB962C8B-B14F-4D97-AF65-F5344CB8AC3E}">
        <p14:creationId xmlns:p14="http://schemas.microsoft.com/office/powerpoint/2010/main" val="1556288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3B607B67-E1B1-4B42-948D-8B6448FCC08B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85725" cy="857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0215D4-B61E-4408-AE2F-5DFACC633B63}"/>
              </a:ext>
            </a:extLst>
          </p:cNvPr>
          <p:cNvSpPr>
            <a:spLocks noGrp="1"/>
          </p:cNvSpPr>
          <p:nvPr/>
        </p:nvSpPr>
        <p:spPr>
          <a:xfrm>
            <a:off x="628650" y="295275"/>
            <a:ext cx="3429000" cy="22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dirty="0"/>
              <a:t>HOURLY DEMAND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4E3168-41CC-4188-B14C-A8C5644884AC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F6B2B8-7103-4D41-9067-A0F97F4EA969}"/>
              </a:ext>
            </a:extLst>
          </p:cNvPr>
          <p:cNvSpPr>
            <a:spLocks noGrp="1"/>
          </p:cNvSpPr>
          <p:nvPr/>
        </p:nvSpPr>
        <p:spPr>
          <a:xfrm>
            <a:off x="457200" y="6248400"/>
            <a:ext cx="10839450" cy="9525"/>
          </a:xfrm>
          <a:prstGeom prst="rect">
            <a:avLst/>
          </a:prstGeom>
          <a:solidFill>
            <a:srgbClr val="E8E3DA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CA2279-26EB-4A84-94F5-8966856ADA42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7810500" cy="8763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Demand is commute-led, with the strongest trip volume at 17:00.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159B51-C0A5-4825-A1F5-34108E871A32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7810500" cy="4572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The top hours cluster around evening and morning commute windows, giving operations a clear coverage target.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5E3661-EEE5-4AEF-BEFB-FE39CAAFA30C}"/>
              </a:ext>
            </a:extLst>
          </p:cNvPr>
          <p:cNvSpPr>
            <a:spLocks noGrp="1"/>
          </p:cNvSpPr>
          <p:nvPr/>
        </p:nvSpPr>
        <p:spPr>
          <a:xfrm>
            <a:off x="552450" y="2324100"/>
            <a:ext cx="68580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470EBE-6005-4CFA-B762-832837CB37B6}"/>
              </a:ext>
            </a:extLst>
          </p:cNvPr>
          <p:cNvSpPr>
            <a:spLocks noGrp="1"/>
          </p:cNvSpPr>
          <p:nvPr/>
        </p:nvSpPr>
        <p:spPr>
          <a:xfrm>
            <a:off x="800100" y="2533650"/>
            <a:ext cx="247650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Trips by start hour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6FAE92-5BA9-496D-B0C8-805AC6906DAE}"/>
              </a:ext>
            </a:extLst>
          </p:cNvPr>
          <p:cNvSpPr>
            <a:spLocks noGrp="1"/>
          </p:cNvSpPr>
          <p:nvPr/>
        </p:nvSpPr>
        <p:spPr>
          <a:xfrm>
            <a:off x="876300" y="4991100"/>
            <a:ext cx="6096000" cy="9525"/>
          </a:xfrm>
          <a:prstGeom prst="rect">
            <a:avLst/>
          </a:prstGeom>
          <a:solidFill>
            <a:srgbClr val="BFC7D1"/>
          </a:solidFill>
          <a:ln w="9525">
            <a:solidFill>
              <a:srgbClr val="BFC7D1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A915A7-1FF2-4D44-81D0-F6290BBD94D3}"/>
              </a:ext>
            </a:extLst>
          </p:cNvPr>
          <p:cNvSpPr>
            <a:spLocks noGrp="1"/>
          </p:cNvSpPr>
          <p:nvPr/>
        </p:nvSpPr>
        <p:spPr>
          <a:xfrm>
            <a:off x="876300" y="4819491"/>
            <a:ext cx="199231" cy="171609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DF6D63-21B9-4DBF-AD31-906B6D9AB963}"/>
              </a:ext>
            </a:extLst>
          </p:cNvPr>
          <p:cNvSpPr>
            <a:spLocks noGrp="1"/>
          </p:cNvSpPr>
          <p:nvPr/>
        </p:nvSpPr>
        <p:spPr>
          <a:xfrm>
            <a:off x="838200" y="5086350"/>
            <a:ext cx="275431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C3AEB9-AF66-4817-9C75-B24D4E961788}"/>
              </a:ext>
            </a:extLst>
          </p:cNvPr>
          <p:cNvSpPr>
            <a:spLocks noGrp="1"/>
          </p:cNvSpPr>
          <p:nvPr/>
        </p:nvSpPr>
        <p:spPr>
          <a:xfrm>
            <a:off x="1132681" y="4878428"/>
            <a:ext cx="199231" cy="112672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B7C724-E296-4421-B9B1-5E46A5F0838E}"/>
              </a:ext>
            </a:extLst>
          </p:cNvPr>
          <p:cNvSpPr>
            <a:spLocks noGrp="1"/>
          </p:cNvSpPr>
          <p:nvPr/>
        </p:nvSpPr>
        <p:spPr>
          <a:xfrm>
            <a:off x="1389063" y="4918399"/>
            <a:ext cx="199231" cy="72701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22948-0CD6-40D3-852D-83CB8C693623}"/>
              </a:ext>
            </a:extLst>
          </p:cNvPr>
          <p:cNvSpPr>
            <a:spLocks noGrp="1"/>
          </p:cNvSpPr>
          <p:nvPr/>
        </p:nvSpPr>
        <p:spPr>
          <a:xfrm>
            <a:off x="1350963" y="5086350"/>
            <a:ext cx="275431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28A15E-4EC5-4191-866A-3870343628C4}"/>
              </a:ext>
            </a:extLst>
          </p:cNvPr>
          <p:cNvSpPr>
            <a:spLocks noGrp="1"/>
          </p:cNvSpPr>
          <p:nvPr/>
        </p:nvSpPr>
        <p:spPr>
          <a:xfrm>
            <a:off x="1645444" y="4941107"/>
            <a:ext cx="199231" cy="49993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2E0D04-F847-4A5C-A830-AB06CF1A6F70}"/>
              </a:ext>
            </a:extLst>
          </p:cNvPr>
          <p:cNvSpPr>
            <a:spLocks noGrp="1"/>
          </p:cNvSpPr>
          <p:nvPr/>
        </p:nvSpPr>
        <p:spPr>
          <a:xfrm>
            <a:off x="1901825" y="4950241"/>
            <a:ext cx="199231" cy="40859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37AC01-7920-4CBE-9978-834478F0F512}"/>
              </a:ext>
            </a:extLst>
          </p:cNvPr>
          <p:cNvSpPr>
            <a:spLocks noGrp="1"/>
          </p:cNvSpPr>
          <p:nvPr/>
        </p:nvSpPr>
        <p:spPr>
          <a:xfrm>
            <a:off x="1863725" y="5086350"/>
            <a:ext cx="275431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6CF1-A047-4200-9684-2C504F2327B7}"/>
              </a:ext>
            </a:extLst>
          </p:cNvPr>
          <p:cNvSpPr>
            <a:spLocks noGrp="1"/>
          </p:cNvSpPr>
          <p:nvPr/>
        </p:nvSpPr>
        <p:spPr>
          <a:xfrm>
            <a:off x="2158206" y="4923770"/>
            <a:ext cx="199231" cy="67330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B00A72-94BD-4EE6-B8B7-61E29A79D6AE}"/>
              </a:ext>
            </a:extLst>
          </p:cNvPr>
          <p:cNvSpPr>
            <a:spLocks noGrp="1"/>
          </p:cNvSpPr>
          <p:nvPr/>
        </p:nvSpPr>
        <p:spPr>
          <a:xfrm>
            <a:off x="2414588" y="4708058"/>
            <a:ext cx="199231" cy="283042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97C5C0-35E2-4953-8EA4-336D21FCF8E3}"/>
              </a:ext>
            </a:extLst>
          </p:cNvPr>
          <p:cNvSpPr>
            <a:spLocks noGrp="1"/>
          </p:cNvSpPr>
          <p:nvPr/>
        </p:nvSpPr>
        <p:spPr>
          <a:xfrm>
            <a:off x="2376488" y="5086350"/>
            <a:ext cx="275431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B7B9C2-0712-4976-B916-9DDA5A3BEF2E}"/>
              </a:ext>
            </a:extLst>
          </p:cNvPr>
          <p:cNvSpPr>
            <a:spLocks noGrp="1"/>
          </p:cNvSpPr>
          <p:nvPr/>
        </p:nvSpPr>
        <p:spPr>
          <a:xfrm>
            <a:off x="2670969" y="4177789"/>
            <a:ext cx="199231" cy="813311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D0A579-1050-44EB-A046-307CD1D83CAC}"/>
              </a:ext>
            </a:extLst>
          </p:cNvPr>
          <p:cNvSpPr>
            <a:spLocks noGrp="1"/>
          </p:cNvSpPr>
          <p:nvPr/>
        </p:nvSpPr>
        <p:spPr>
          <a:xfrm>
            <a:off x="2927350" y="3491860"/>
            <a:ext cx="199231" cy="1499240"/>
          </a:xfrm>
          <a:prstGeom prst="rect">
            <a:avLst/>
          </a:prstGeom>
          <a:solidFill>
            <a:srgbClr val="FBBC05"/>
          </a:solidFill>
          <a:ln w="9525">
            <a:solidFill>
              <a:srgbClr val="FBBC0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7959DB-15CA-4A57-8AE5-A25287EC6224}"/>
              </a:ext>
            </a:extLst>
          </p:cNvPr>
          <p:cNvSpPr>
            <a:spLocks noGrp="1"/>
          </p:cNvSpPr>
          <p:nvPr/>
        </p:nvSpPr>
        <p:spPr>
          <a:xfrm>
            <a:off x="2889250" y="5086350"/>
            <a:ext cx="275431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28C996-CB81-4F1E-8C5A-388E486B4009}"/>
              </a:ext>
            </a:extLst>
          </p:cNvPr>
          <p:cNvSpPr>
            <a:spLocks noGrp="1"/>
          </p:cNvSpPr>
          <p:nvPr/>
        </p:nvSpPr>
        <p:spPr>
          <a:xfrm>
            <a:off x="3183731" y="4066347"/>
            <a:ext cx="199231" cy="924753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8EE415-860B-4107-934B-760E1ABB44A1}"/>
              </a:ext>
            </a:extLst>
          </p:cNvPr>
          <p:cNvSpPr>
            <a:spLocks noGrp="1"/>
          </p:cNvSpPr>
          <p:nvPr/>
        </p:nvSpPr>
        <p:spPr>
          <a:xfrm>
            <a:off x="3440113" y="4324956"/>
            <a:ext cx="199231" cy="666144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0D4142-0AC3-4A82-BDF7-E339CF420704}"/>
              </a:ext>
            </a:extLst>
          </p:cNvPr>
          <p:cNvSpPr>
            <a:spLocks noGrp="1"/>
          </p:cNvSpPr>
          <p:nvPr/>
        </p:nvSpPr>
        <p:spPr>
          <a:xfrm>
            <a:off x="3402013" y="5086350"/>
            <a:ext cx="275431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552099-4F2D-4739-B456-21C576DD591A}"/>
              </a:ext>
            </a:extLst>
          </p:cNvPr>
          <p:cNvSpPr>
            <a:spLocks noGrp="1"/>
          </p:cNvSpPr>
          <p:nvPr/>
        </p:nvSpPr>
        <p:spPr>
          <a:xfrm>
            <a:off x="3696494" y="4249162"/>
            <a:ext cx="199231" cy="741938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5EC8889-AAF1-4328-8064-E93164C1E7FE}"/>
              </a:ext>
            </a:extLst>
          </p:cNvPr>
          <p:cNvSpPr>
            <a:spLocks noGrp="1"/>
          </p:cNvSpPr>
          <p:nvPr/>
        </p:nvSpPr>
        <p:spPr>
          <a:xfrm>
            <a:off x="3952875" y="4079964"/>
            <a:ext cx="199231" cy="911136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811944-94F4-4D23-BD4B-3F23B60B2119}"/>
              </a:ext>
            </a:extLst>
          </p:cNvPr>
          <p:cNvSpPr>
            <a:spLocks noGrp="1"/>
          </p:cNvSpPr>
          <p:nvPr/>
        </p:nvSpPr>
        <p:spPr>
          <a:xfrm>
            <a:off x="3914775" y="5086350"/>
            <a:ext cx="275431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B62727-5290-45CC-8802-552C1C024975}"/>
              </a:ext>
            </a:extLst>
          </p:cNvPr>
          <p:cNvSpPr>
            <a:spLocks noGrp="1"/>
          </p:cNvSpPr>
          <p:nvPr/>
        </p:nvSpPr>
        <p:spPr>
          <a:xfrm>
            <a:off x="4209256" y="4031791"/>
            <a:ext cx="199231" cy="959309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920CBF-8503-497C-B448-A95445DD7C33}"/>
              </a:ext>
            </a:extLst>
          </p:cNvPr>
          <p:cNvSpPr>
            <a:spLocks noGrp="1"/>
          </p:cNvSpPr>
          <p:nvPr/>
        </p:nvSpPr>
        <p:spPr>
          <a:xfrm>
            <a:off x="4465638" y="4038581"/>
            <a:ext cx="199231" cy="952519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2EA659-77E1-4739-88B3-398758A5BCB0}"/>
              </a:ext>
            </a:extLst>
          </p:cNvPr>
          <p:cNvSpPr>
            <a:spLocks noGrp="1"/>
          </p:cNvSpPr>
          <p:nvPr/>
        </p:nvSpPr>
        <p:spPr>
          <a:xfrm>
            <a:off x="4427538" y="5086350"/>
            <a:ext cx="275431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14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8FCE8EE-7C13-4E77-A7A3-60E547E98984}"/>
              </a:ext>
            </a:extLst>
          </p:cNvPr>
          <p:cNvSpPr>
            <a:spLocks noGrp="1"/>
          </p:cNvSpPr>
          <p:nvPr/>
        </p:nvSpPr>
        <p:spPr>
          <a:xfrm>
            <a:off x="4722019" y="3980871"/>
            <a:ext cx="199231" cy="1010229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FB54A1-1FEC-4468-9DE5-1966068A71AC}"/>
              </a:ext>
            </a:extLst>
          </p:cNvPr>
          <p:cNvSpPr>
            <a:spLocks noGrp="1"/>
          </p:cNvSpPr>
          <p:nvPr/>
        </p:nvSpPr>
        <p:spPr>
          <a:xfrm>
            <a:off x="4978400" y="3806363"/>
            <a:ext cx="199231" cy="1184737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A86B26-2E42-485F-BC9A-67E10D8257A1}"/>
              </a:ext>
            </a:extLst>
          </p:cNvPr>
          <p:cNvSpPr>
            <a:spLocks noGrp="1"/>
          </p:cNvSpPr>
          <p:nvPr/>
        </p:nvSpPr>
        <p:spPr>
          <a:xfrm>
            <a:off x="4940300" y="5086350"/>
            <a:ext cx="275431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16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E7F5581-2FAF-4CBC-A326-4834DAEAEAF3}"/>
              </a:ext>
            </a:extLst>
          </p:cNvPr>
          <p:cNvSpPr>
            <a:spLocks noGrp="1"/>
          </p:cNvSpPr>
          <p:nvPr/>
        </p:nvSpPr>
        <p:spPr>
          <a:xfrm>
            <a:off x="5234781" y="3314700"/>
            <a:ext cx="199231" cy="1676400"/>
          </a:xfrm>
          <a:prstGeom prst="rect">
            <a:avLst/>
          </a:prstGeom>
          <a:solidFill>
            <a:srgbClr val="EA4335"/>
          </a:solidFill>
          <a:ln w="9525">
            <a:solidFill>
              <a:srgbClr val="EA433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0F6A7C-8EAE-4D7A-BCFE-6DB1CDBDB835}"/>
              </a:ext>
            </a:extLst>
          </p:cNvPr>
          <p:cNvSpPr>
            <a:spLocks noGrp="1"/>
          </p:cNvSpPr>
          <p:nvPr/>
        </p:nvSpPr>
        <p:spPr>
          <a:xfrm>
            <a:off x="5491163" y="3421575"/>
            <a:ext cx="199231" cy="1569525"/>
          </a:xfrm>
          <a:prstGeom prst="rect">
            <a:avLst/>
          </a:prstGeom>
          <a:solidFill>
            <a:srgbClr val="FBBC05"/>
          </a:solidFill>
          <a:ln w="9525">
            <a:solidFill>
              <a:srgbClr val="FBBC0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759EBDD-904B-4905-ABDD-7C27A540DF0A}"/>
              </a:ext>
            </a:extLst>
          </p:cNvPr>
          <p:cNvSpPr>
            <a:spLocks noGrp="1"/>
          </p:cNvSpPr>
          <p:nvPr/>
        </p:nvSpPr>
        <p:spPr>
          <a:xfrm>
            <a:off x="5453063" y="5086350"/>
            <a:ext cx="275431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18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7BF128B-58FD-44B0-B60F-13A1C3FA767C}"/>
              </a:ext>
            </a:extLst>
          </p:cNvPr>
          <p:cNvSpPr>
            <a:spLocks noGrp="1"/>
          </p:cNvSpPr>
          <p:nvPr/>
        </p:nvSpPr>
        <p:spPr>
          <a:xfrm>
            <a:off x="5747544" y="3966291"/>
            <a:ext cx="199231" cy="1024809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83BECA2-B0D5-425B-8805-8DB98CDCC3C2}"/>
              </a:ext>
            </a:extLst>
          </p:cNvPr>
          <p:cNvSpPr>
            <a:spLocks noGrp="1"/>
          </p:cNvSpPr>
          <p:nvPr/>
        </p:nvSpPr>
        <p:spPr>
          <a:xfrm>
            <a:off x="6003925" y="4321734"/>
            <a:ext cx="199231" cy="669366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94220E0-5ECD-40A0-9A91-9864B3F1F5EA}"/>
              </a:ext>
            </a:extLst>
          </p:cNvPr>
          <p:cNvSpPr>
            <a:spLocks noGrp="1"/>
          </p:cNvSpPr>
          <p:nvPr/>
        </p:nvSpPr>
        <p:spPr>
          <a:xfrm>
            <a:off x="5965825" y="5086350"/>
            <a:ext cx="275431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20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0AF964-3D45-46DD-8F6A-377D3C15BD88}"/>
              </a:ext>
            </a:extLst>
          </p:cNvPr>
          <p:cNvSpPr>
            <a:spLocks noGrp="1"/>
          </p:cNvSpPr>
          <p:nvPr/>
        </p:nvSpPr>
        <p:spPr>
          <a:xfrm>
            <a:off x="6260306" y="4515061"/>
            <a:ext cx="199231" cy="476039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30070F-64E7-4B76-A679-3B7581BDE6CB}"/>
              </a:ext>
            </a:extLst>
          </p:cNvPr>
          <p:cNvSpPr>
            <a:spLocks noGrp="1"/>
          </p:cNvSpPr>
          <p:nvPr/>
        </p:nvSpPr>
        <p:spPr>
          <a:xfrm>
            <a:off x="6516688" y="4610785"/>
            <a:ext cx="199231" cy="38031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36A2856-9E1F-415A-945E-A7F0D5E896D2}"/>
              </a:ext>
            </a:extLst>
          </p:cNvPr>
          <p:cNvSpPr>
            <a:spLocks noGrp="1"/>
          </p:cNvSpPr>
          <p:nvPr/>
        </p:nvSpPr>
        <p:spPr>
          <a:xfrm>
            <a:off x="6478588" y="5086350"/>
            <a:ext cx="275431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22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3E2AD2A-8D61-42C8-B9B2-635BFA0FED5D}"/>
              </a:ext>
            </a:extLst>
          </p:cNvPr>
          <p:cNvSpPr>
            <a:spLocks noGrp="1"/>
          </p:cNvSpPr>
          <p:nvPr/>
        </p:nvSpPr>
        <p:spPr>
          <a:xfrm>
            <a:off x="6773069" y="4725067"/>
            <a:ext cx="199231" cy="266033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7761C23-56B1-4248-A4BD-2CD511027DE1}"/>
              </a:ext>
            </a:extLst>
          </p:cNvPr>
          <p:cNvSpPr>
            <a:spLocks noGrp="1"/>
          </p:cNvSpPr>
          <p:nvPr/>
        </p:nvSpPr>
        <p:spPr>
          <a:xfrm>
            <a:off x="3238500" y="5219700"/>
            <a:ext cx="152400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Hour of day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4529472-165B-49DB-8E53-7A8AD2479C7A}"/>
              </a:ext>
            </a:extLst>
          </p:cNvPr>
          <p:cNvSpPr>
            <a:spLocks noGrp="1"/>
          </p:cNvSpPr>
          <p:nvPr/>
        </p:nvSpPr>
        <p:spPr>
          <a:xfrm>
            <a:off x="7953375" y="2333625"/>
            <a:ext cx="2781300" cy="2381250"/>
          </a:xfrm>
          <a:prstGeom prst="rect">
            <a:avLst/>
          </a:prstGeom>
          <a:solidFill>
            <a:srgbClr val="18212B"/>
          </a:solidFill>
          <a:ln w="9525">
            <a:solidFill>
              <a:srgbClr val="18212B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3E18A19-D92C-4DEF-9E3C-B8975563D860}"/>
              </a:ext>
            </a:extLst>
          </p:cNvPr>
          <p:cNvSpPr>
            <a:spLocks noGrp="1"/>
          </p:cNvSpPr>
          <p:nvPr/>
        </p:nvSpPr>
        <p:spPr>
          <a:xfrm>
            <a:off x="8210550" y="2628900"/>
            <a:ext cx="171450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D3FF"/>
                </a:solidFill>
                <a:latin typeface="Aptos"/>
                <a:ea typeface="Aptos"/>
                <a:cs typeface="Aptos"/>
              </a:defRPr>
            </a:pPr>
            <a:r>
              <a:t>Peak hours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650EBD7-5A09-4497-AFEF-1089D5DA6C84}"/>
              </a:ext>
            </a:extLst>
          </p:cNvPr>
          <p:cNvSpPr>
            <a:spLocks noGrp="1"/>
          </p:cNvSpPr>
          <p:nvPr/>
        </p:nvSpPr>
        <p:spPr>
          <a:xfrm>
            <a:off x="8210550" y="3000375"/>
            <a:ext cx="1066800" cy="12573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17:00 18:00 08:00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9E8FBE-5653-4F29-AAA9-8D940FC0669E}"/>
              </a:ext>
            </a:extLst>
          </p:cNvPr>
          <p:cNvSpPr>
            <a:spLocks noGrp="1"/>
          </p:cNvSpPr>
          <p:nvPr/>
        </p:nvSpPr>
        <p:spPr>
          <a:xfrm>
            <a:off x="9410700" y="3057525"/>
            <a:ext cx="1047750" cy="1143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7EEF8"/>
                </a:solidFill>
                <a:latin typeface="Aptos"/>
                <a:ea typeface="Aptos"/>
                <a:cs typeface="Aptos"/>
              </a:defRPr>
            </a:pPr>
            <a:r>
              <a:t>8.46M trips 7.92M trips 7.56M trips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26A8856-732D-4A27-8E85-3C09A638AAEB}"/>
              </a:ext>
            </a:extLst>
          </p:cNvPr>
          <p:cNvSpPr>
            <a:spLocks noGrp="1"/>
          </p:cNvSpPr>
          <p:nvPr/>
        </p:nvSpPr>
        <p:spPr>
          <a:xfrm>
            <a:off x="7981950" y="4953000"/>
            <a:ext cx="2781300" cy="523875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Action: align bike availability and field support around 16:00-19:00.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B7B2D43-2F38-4C00-B2B5-E3AA1B98C125}"/>
              </a:ext>
            </a:extLst>
          </p:cNvPr>
          <p:cNvSpPr>
            <a:spLocks noGrp="1"/>
          </p:cNvSpPr>
          <p:nvPr/>
        </p:nvSpPr>
        <p:spPr>
          <a:xfrm>
            <a:off x="457200" y="6343650"/>
            <a:ext cx="857250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Aptos"/>
                <a:ea typeface="Aptos"/>
                <a:cs typeface="Aptos"/>
              </a:defRPr>
            </a:pPr>
            <a:r>
              <a:t>Source: mart_hourly_demand.</a:t>
            </a:r>
          </a:p>
        </p:txBody>
      </p:sp>
    </p:spTree>
    <p:extLst>
      <p:ext uri="{BB962C8B-B14F-4D97-AF65-F5344CB8AC3E}">
        <p14:creationId xmlns:p14="http://schemas.microsoft.com/office/powerpoint/2010/main" val="90871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BC3244D-F59F-45E0-9A3B-E35A4ABAD048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85725" cy="857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4E4B1D-AA4D-4537-AF2F-0B6AA76F5A46}"/>
              </a:ext>
            </a:extLst>
          </p:cNvPr>
          <p:cNvSpPr>
            <a:spLocks noGrp="1"/>
          </p:cNvSpPr>
          <p:nvPr/>
        </p:nvSpPr>
        <p:spPr>
          <a:xfrm>
            <a:off x="628650" y="295275"/>
            <a:ext cx="3429000" cy="22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dirty="0"/>
              <a:t>WEEKDAY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4DE79A-DFE9-40FD-BDC2-191510B4ED45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6F24F7-222B-4C41-80B5-AC99FAD6A336}"/>
              </a:ext>
            </a:extLst>
          </p:cNvPr>
          <p:cNvSpPr>
            <a:spLocks noGrp="1"/>
          </p:cNvSpPr>
          <p:nvPr/>
        </p:nvSpPr>
        <p:spPr>
          <a:xfrm>
            <a:off x="457200" y="6248400"/>
            <a:ext cx="10839450" cy="9525"/>
          </a:xfrm>
          <a:prstGeom prst="rect">
            <a:avLst/>
          </a:prstGeom>
          <a:solidFill>
            <a:srgbClr val="E8E3DA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16F713-0474-4D1B-B2C7-903711CE22ED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7810500" cy="8763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Weekdays carry the volume; weekends carry longer trips.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E248CB-B6DE-40F1-B27A-F70B0C60BEA5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7810500" cy="4572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This split suggests weekday commuting behavior and weekend leisure behavior should be managed differently.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F49574-3D13-40C1-A769-393AA0C9B205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628650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40B96F-559E-41AA-9FD3-6FECD38D7126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247650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Trips by day of week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11674D-B9F5-48DD-A828-1ED76BE3A2EC}"/>
              </a:ext>
            </a:extLst>
          </p:cNvPr>
          <p:cNvSpPr>
            <a:spLocks noGrp="1"/>
          </p:cNvSpPr>
          <p:nvPr/>
        </p:nvSpPr>
        <p:spPr>
          <a:xfrm>
            <a:off x="1028700" y="4781550"/>
            <a:ext cx="5143500" cy="9525"/>
          </a:xfrm>
          <a:prstGeom prst="rect">
            <a:avLst/>
          </a:prstGeom>
          <a:solidFill>
            <a:srgbClr val="BFC7D1"/>
          </a:solidFill>
          <a:ln w="9525">
            <a:solidFill>
              <a:srgbClr val="BFC7D1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153A0A-791E-4889-9C90-1F6CAB40145D}"/>
              </a:ext>
            </a:extLst>
          </p:cNvPr>
          <p:cNvSpPr>
            <a:spLocks noGrp="1"/>
          </p:cNvSpPr>
          <p:nvPr/>
        </p:nvSpPr>
        <p:spPr>
          <a:xfrm>
            <a:off x="1028700" y="3632621"/>
            <a:ext cx="555171" cy="1148929"/>
          </a:xfrm>
          <a:prstGeom prst="rect">
            <a:avLst/>
          </a:prstGeom>
          <a:solidFill>
            <a:srgbClr val="34A853"/>
          </a:solidFill>
          <a:ln w="9525">
            <a:solidFill>
              <a:srgbClr val="34A853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83AFB4-9843-49DF-9861-54992B044F1B}"/>
              </a:ext>
            </a:extLst>
          </p:cNvPr>
          <p:cNvSpPr>
            <a:spLocks noGrp="1"/>
          </p:cNvSpPr>
          <p:nvPr/>
        </p:nvSpPr>
        <p:spPr>
          <a:xfrm>
            <a:off x="990600" y="4876800"/>
            <a:ext cx="631371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Sun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0E1732-3A67-4B6E-8403-6013280A095D}"/>
              </a:ext>
            </a:extLst>
          </p:cNvPr>
          <p:cNvSpPr>
            <a:spLocks noGrp="1"/>
          </p:cNvSpPr>
          <p:nvPr/>
        </p:nvSpPr>
        <p:spPr>
          <a:xfrm>
            <a:off x="1793421" y="3479460"/>
            <a:ext cx="555171" cy="1302090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ED3631-DB86-49CA-97C2-D134569B81C6}"/>
              </a:ext>
            </a:extLst>
          </p:cNvPr>
          <p:cNvSpPr>
            <a:spLocks noGrp="1"/>
          </p:cNvSpPr>
          <p:nvPr/>
        </p:nvSpPr>
        <p:spPr>
          <a:xfrm>
            <a:off x="1755321" y="4876800"/>
            <a:ext cx="631371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Mon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28BE19-FE7D-41E4-A75A-88BB4D7D21C4}"/>
              </a:ext>
            </a:extLst>
          </p:cNvPr>
          <p:cNvSpPr>
            <a:spLocks noGrp="1"/>
          </p:cNvSpPr>
          <p:nvPr/>
        </p:nvSpPr>
        <p:spPr>
          <a:xfrm>
            <a:off x="2558143" y="3378726"/>
            <a:ext cx="555171" cy="1402824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2012EF-1D6A-46DB-8514-7B625AF6F97D}"/>
              </a:ext>
            </a:extLst>
          </p:cNvPr>
          <p:cNvSpPr>
            <a:spLocks noGrp="1"/>
          </p:cNvSpPr>
          <p:nvPr/>
        </p:nvSpPr>
        <p:spPr>
          <a:xfrm>
            <a:off x="2520043" y="4876800"/>
            <a:ext cx="631371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Tue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A2DF58-B814-4C02-B2FC-8E6316D80E3E}"/>
              </a:ext>
            </a:extLst>
          </p:cNvPr>
          <p:cNvSpPr>
            <a:spLocks noGrp="1"/>
          </p:cNvSpPr>
          <p:nvPr/>
        </p:nvSpPr>
        <p:spPr>
          <a:xfrm>
            <a:off x="3322864" y="3381101"/>
            <a:ext cx="555171" cy="1400449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F8ECBC-AEDB-4E24-A079-35E8C4AF0872}"/>
              </a:ext>
            </a:extLst>
          </p:cNvPr>
          <p:cNvSpPr>
            <a:spLocks noGrp="1"/>
          </p:cNvSpPr>
          <p:nvPr/>
        </p:nvSpPr>
        <p:spPr>
          <a:xfrm>
            <a:off x="3284764" y="4876800"/>
            <a:ext cx="631371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Wed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51F70B-B934-4734-8BE2-F4C6A5E9F4EE}"/>
              </a:ext>
            </a:extLst>
          </p:cNvPr>
          <p:cNvSpPr>
            <a:spLocks noGrp="1"/>
          </p:cNvSpPr>
          <p:nvPr/>
        </p:nvSpPr>
        <p:spPr>
          <a:xfrm>
            <a:off x="4087586" y="3371850"/>
            <a:ext cx="555171" cy="1409700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3F9045-751A-479A-9102-B2C7716865BA}"/>
              </a:ext>
            </a:extLst>
          </p:cNvPr>
          <p:cNvSpPr>
            <a:spLocks noGrp="1"/>
          </p:cNvSpPr>
          <p:nvPr/>
        </p:nvSpPr>
        <p:spPr>
          <a:xfrm>
            <a:off x="4049486" y="4876800"/>
            <a:ext cx="631371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Thu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CEF583-CBC0-4F83-9043-90105F275856}"/>
              </a:ext>
            </a:extLst>
          </p:cNvPr>
          <p:cNvSpPr>
            <a:spLocks noGrp="1"/>
          </p:cNvSpPr>
          <p:nvPr/>
        </p:nvSpPr>
        <p:spPr>
          <a:xfrm>
            <a:off x="4852307" y="3424954"/>
            <a:ext cx="555171" cy="1356596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D7D1E8-3730-42CA-AFCD-C38DE0ABA7A1}"/>
              </a:ext>
            </a:extLst>
          </p:cNvPr>
          <p:cNvSpPr>
            <a:spLocks noGrp="1"/>
          </p:cNvSpPr>
          <p:nvPr/>
        </p:nvSpPr>
        <p:spPr>
          <a:xfrm>
            <a:off x="4814207" y="4876800"/>
            <a:ext cx="631371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Fri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0A63A6-B2AA-418A-A3F2-0257BCA76D12}"/>
              </a:ext>
            </a:extLst>
          </p:cNvPr>
          <p:cNvSpPr>
            <a:spLocks noGrp="1"/>
          </p:cNvSpPr>
          <p:nvPr/>
        </p:nvSpPr>
        <p:spPr>
          <a:xfrm>
            <a:off x="5617029" y="3526411"/>
            <a:ext cx="555171" cy="1255139"/>
          </a:xfrm>
          <a:prstGeom prst="rect">
            <a:avLst/>
          </a:prstGeom>
          <a:solidFill>
            <a:srgbClr val="34A853"/>
          </a:solidFill>
          <a:ln w="9525">
            <a:solidFill>
              <a:srgbClr val="34A853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E2EC75-434D-45C3-9434-BDB722164373}"/>
              </a:ext>
            </a:extLst>
          </p:cNvPr>
          <p:cNvSpPr>
            <a:spLocks noGrp="1"/>
          </p:cNvSpPr>
          <p:nvPr/>
        </p:nvSpPr>
        <p:spPr>
          <a:xfrm>
            <a:off x="5578929" y="4876800"/>
            <a:ext cx="631371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Sat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440776-1293-41C2-AE11-D605928495D9}"/>
              </a:ext>
            </a:extLst>
          </p:cNvPr>
          <p:cNvSpPr>
            <a:spLocks noGrp="1"/>
          </p:cNvSpPr>
          <p:nvPr/>
        </p:nvSpPr>
        <p:spPr>
          <a:xfrm>
            <a:off x="7381875" y="2362200"/>
            <a:ext cx="16002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BE6C8A-CFAA-423B-985F-D07A37DD8662}"/>
              </a:ext>
            </a:extLst>
          </p:cNvPr>
          <p:cNvSpPr>
            <a:spLocks noGrp="1"/>
          </p:cNvSpPr>
          <p:nvPr/>
        </p:nvSpPr>
        <p:spPr>
          <a:xfrm>
            <a:off x="7620000" y="2686050"/>
            <a:ext cx="11430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4285F4"/>
                </a:solidFill>
                <a:latin typeface="Aptos"/>
                <a:ea typeface="Aptos"/>
                <a:cs typeface="Aptos"/>
              </a:defRPr>
            </a:pPr>
            <a:r>
              <a:t>61.8M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3D6263-4F17-4174-B644-D32ABB8E00E9}"/>
              </a:ext>
            </a:extLst>
          </p:cNvPr>
          <p:cNvSpPr>
            <a:spLocks noGrp="1"/>
          </p:cNvSpPr>
          <p:nvPr/>
        </p:nvSpPr>
        <p:spPr>
          <a:xfrm>
            <a:off x="7620000" y="3162300"/>
            <a:ext cx="1143000" cy="2667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weekday trips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4FFF11-6BF2-43D5-8BA1-E9C164750091}"/>
              </a:ext>
            </a:extLst>
          </p:cNvPr>
          <p:cNvSpPr>
            <a:spLocks noGrp="1"/>
          </p:cNvSpPr>
          <p:nvPr/>
        </p:nvSpPr>
        <p:spPr>
          <a:xfrm>
            <a:off x="9258300" y="2362200"/>
            <a:ext cx="16002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F39695-C3C9-4940-9082-9F3E294902D7}"/>
              </a:ext>
            </a:extLst>
          </p:cNvPr>
          <p:cNvSpPr>
            <a:spLocks noGrp="1"/>
          </p:cNvSpPr>
          <p:nvPr/>
        </p:nvSpPr>
        <p:spPr>
          <a:xfrm>
            <a:off x="9496425" y="2686050"/>
            <a:ext cx="11430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34A853"/>
                </a:solidFill>
                <a:latin typeface="Aptos"/>
                <a:ea typeface="Aptos"/>
                <a:cs typeface="Aptos"/>
              </a:defRPr>
            </a:pPr>
            <a:r>
              <a:t>21.6M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52FA20-3F74-4973-B672-86ED83E90FDA}"/>
              </a:ext>
            </a:extLst>
          </p:cNvPr>
          <p:cNvSpPr>
            <a:spLocks noGrp="1"/>
          </p:cNvSpPr>
          <p:nvPr/>
        </p:nvSpPr>
        <p:spPr>
          <a:xfrm>
            <a:off x="9496425" y="3162300"/>
            <a:ext cx="1143000" cy="2667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weekend trips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690C69-C531-44C9-A757-5F3237C3D76E}"/>
              </a:ext>
            </a:extLst>
          </p:cNvPr>
          <p:cNvSpPr>
            <a:spLocks noGrp="1"/>
          </p:cNvSpPr>
          <p:nvPr/>
        </p:nvSpPr>
        <p:spPr>
          <a:xfrm>
            <a:off x="7381875" y="4038599"/>
            <a:ext cx="3476625" cy="1209667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4E3B91-CAD5-4198-B84C-19D7B61C5FF3}"/>
              </a:ext>
            </a:extLst>
          </p:cNvPr>
          <p:cNvSpPr>
            <a:spLocks noGrp="1"/>
          </p:cNvSpPr>
          <p:nvPr/>
        </p:nvSpPr>
        <p:spPr>
          <a:xfrm>
            <a:off x="7620000" y="4276725"/>
            <a:ext cx="3000375" cy="4191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Weekend rides average 28.19 minutes versus 19.60 on weekdays.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B16C96E-A22F-44A6-9505-A81C5ECA0F71}"/>
              </a:ext>
            </a:extLst>
          </p:cNvPr>
          <p:cNvSpPr>
            <a:spLocks noGrp="1"/>
          </p:cNvSpPr>
          <p:nvPr/>
        </p:nvSpPr>
        <p:spPr>
          <a:xfrm>
            <a:off x="457200" y="6343650"/>
            <a:ext cx="857250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Aptos"/>
                <a:ea typeface="Aptos"/>
                <a:cs typeface="Aptos"/>
              </a:defRPr>
            </a:pPr>
            <a:r>
              <a:t>Source: mart_weekday_demand.</a:t>
            </a:r>
          </a:p>
        </p:txBody>
      </p:sp>
    </p:spTree>
    <p:extLst>
      <p:ext uri="{BB962C8B-B14F-4D97-AF65-F5344CB8AC3E}">
        <p14:creationId xmlns:p14="http://schemas.microsoft.com/office/powerpoint/2010/main" val="2124817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622518E8-C01D-4F3A-AC52-54372DAA2A30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85725" cy="857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AD2B9A-22EE-43BD-8A54-FE9572350ABF}"/>
              </a:ext>
            </a:extLst>
          </p:cNvPr>
          <p:cNvSpPr>
            <a:spLocks noGrp="1"/>
          </p:cNvSpPr>
          <p:nvPr/>
        </p:nvSpPr>
        <p:spPr>
          <a:xfrm>
            <a:off x="628650" y="295275"/>
            <a:ext cx="3429000" cy="22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dirty="0"/>
              <a:t>SEASONALITY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0A19FD-24E6-4591-906E-BB3FBE028AA6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4B5168-EEC3-4FDC-9612-629B5FB58393}"/>
              </a:ext>
            </a:extLst>
          </p:cNvPr>
          <p:cNvSpPr>
            <a:spLocks noGrp="1"/>
          </p:cNvSpPr>
          <p:nvPr/>
        </p:nvSpPr>
        <p:spPr>
          <a:xfrm>
            <a:off x="457200" y="6248400"/>
            <a:ext cx="10839450" cy="9525"/>
          </a:xfrm>
          <a:prstGeom prst="rect">
            <a:avLst/>
          </a:prstGeom>
          <a:solidFill>
            <a:srgbClr val="E8E3DA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9AFF80-FB3A-405D-A2A7-3337F1400B6D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7810500" cy="8763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Summer demand creates recurring capacity pressure.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23927D-DF6B-4A3A-9D92-608398E998D9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7810500" cy="4572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dirty="0"/>
              <a:t>Monthly demand peaks in warm-weather periods, with 2022 summer months leading the dataset.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D373EC-9B97-439E-9D47-14CE13947FFF}"/>
              </a:ext>
            </a:extLst>
          </p:cNvPr>
          <p:cNvSpPr>
            <a:spLocks noGrp="1"/>
          </p:cNvSpPr>
          <p:nvPr/>
        </p:nvSpPr>
        <p:spPr>
          <a:xfrm>
            <a:off x="533400" y="2305050"/>
            <a:ext cx="685800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BA0B38-D12D-4B6B-97BE-4C554077F345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238125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Top demand months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3A92EA-5378-4E53-ADBB-14CA51B9CDAC}"/>
              </a:ext>
            </a:extLst>
          </p:cNvPr>
          <p:cNvSpPr>
            <a:spLocks noGrp="1"/>
          </p:cNvSpPr>
          <p:nvPr/>
        </p:nvSpPr>
        <p:spPr>
          <a:xfrm>
            <a:off x="895350" y="3067050"/>
            <a:ext cx="114300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2022-07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09AC48-F08D-4FCE-871C-DB618971D8FC}"/>
              </a:ext>
            </a:extLst>
          </p:cNvPr>
          <p:cNvSpPr>
            <a:spLocks noGrp="1"/>
          </p:cNvSpPr>
          <p:nvPr/>
        </p:nvSpPr>
        <p:spPr>
          <a:xfrm>
            <a:off x="2190750" y="3105150"/>
            <a:ext cx="3714750" cy="152400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FBBD7B-0AFE-4B85-B475-C95E1B7AAA5A}"/>
              </a:ext>
            </a:extLst>
          </p:cNvPr>
          <p:cNvSpPr>
            <a:spLocks noGrp="1"/>
          </p:cNvSpPr>
          <p:nvPr/>
        </p:nvSpPr>
        <p:spPr>
          <a:xfrm>
            <a:off x="5981700" y="3067050"/>
            <a:ext cx="666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1.30M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1647A1-1D6A-420D-8586-FB6AE26A18F5}"/>
              </a:ext>
            </a:extLst>
          </p:cNvPr>
          <p:cNvSpPr>
            <a:spLocks noGrp="1"/>
          </p:cNvSpPr>
          <p:nvPr/>
        </p:nvSpPr>
        <p:spPr>
          <a:xfrm>
            <a:off x="895350" y="3371850"/>
            <a:ext cx="114300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2022-06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5CD057-BB10-46AB-B772-4F9E4E03588D}"/>
              </a:ext>
            </a:extLst>
          </p:cNvPr>
          <p:cNvSpPr>
            <a:spLocks noGrp="1"/>
          </p:cNvSpPr>
          <p:nvPr/>
        </p:nvSpPr>
        <p:spPr>
          <a:xfrm>
            <a:off x="2190750" y="3409950"/>
            <a:ext cx="3615923" cy="152400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CB0F83-8ADA-4640-BD5A-689FB8526B5D}"/>
              </a:ext>
            </a:extLst>
          </p:cNvPr>
          <p:cNvSpPr>
            <a:spLocks noGrp="1"/>
          </p:cNvSpPr>
          <p:nvPr/>
        </p:nvSpPr>
        <p:spPr>
          <a:xfrm>
            <a:off x="5882873" y="3371850"/>
            <a:ext cx="666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1.27M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E2ADC7-FF09-4B92-8F37-D0CA48A4C647}"/>
              </a:ext>
            </a:extLst>
          </p:cNvPr>
          <p:cNvSpPr>
            <a:spLocks noGrp="1"/>
          </p:cNvSpPr>
          <p:nvPr/>
        </p:nvSpPr>
        <p:spPr>
          <a:xfrm>
            <a:off x="895350" y="3676650"/>
            <a:ext cx="114300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2022-08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B39BCA-9C2F-4C41-8C1E-616761C08C57}"/>
              </a:ext>
            </a:extLst>
          </p:cNvPr>
          <p:cNvSpPr>
            <a:spLocks noGrp="1"/>
          </p:cNvSpPr>
          <p:nvPr/>
        </p:nvSpPr>
        <p:spPr>
          <a:xfrm>
            <a:off x="2190750" y="3714750"/>
            <a:ext cx="3559881" cy="152400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5F3C37-81F6-4565-8467-6D879FDB28D6}"/>
              </a:ext>
            </a:extLst>
          </p:cNvPr>
          <p:cNvSpPr>
            <a:spLocks noGrp="1"/>
          </p:cNvSpPr>
          <p:nvPr/>
        </p:nvSpPr>
        <p:spPr>
          <a:xfrm>
            <a:off x="5826831" y="3676650"/>
            <a:ext cx="666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1.25M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BC62D9-E7AE-42C1-A233-F571E78209B0}"/>
              </a:ext>
            </a:extLst>
          </p:cNvPr>
          <p:cNvSpPr>
            <a:spLocks noGrp="1"/>
          </p:cNvSpPr>
          <p:nvPr/>
        </p:nvSpPr>
        <p:spPr>
          <a:xfrm>
            <a:off x="895350" y="3981450"/>
            <a:ext cx="114300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2018-07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2105B8-2B9F-49DD-82C3-FA5B1BDDA328}"/>
              </a:ext>
            </a:extLst>
          </p:cNvPr>
          <p:cNvSpPr>
            <a:spLocks noGrp="1"/>
          </p:cNvSpPr>
          <p:nvPr/>
        </p:nvSpPr>
        <p:spPr>
          <a:xfrm>
            <a:off x="2190750" y="4019550"/>
            <a:ext cx="3531856" cy="152400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648228-2490-4EAF-9275-A21B79B70C89}"/>
              </a:ext>
            </a:extLst>
          </p:cNvPr>
          <p:cNvSpPr>
            <a:spLocks noGrp="1"/>
          </p:cNvSpPr>
          <p:nvPr/>
        </p:nvSpPr>
        <p:spPr>
          <a:xfrm>
            <a:off x="5798806" y="3981450"/>
            <a:ext cx="666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1.24M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D049B0-CABE-448E-9FB5-22187FA948D9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114300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2021-09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DD5EA7-351D-4FEC-85DF-AF347DEC853B}"/>
              </a:ext>
            </a:extLst>
          </p:cNvPr>
          <p:cNvSpPr>
            <a:spLocks noGrp="1"/>
          </p:cNvSpPr>
          <p:nvPr/>
        </p:nvSpPr>
        <p:spPr>
          <a:xfrm>
            <a:off x="2190750" y="4324350"/>
            <a:ext cx="3445524" cy="152400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BF8EFF-3866-4670-A3B1-B553A6EDEB61}"/>
              </a:ext>
            </a:extLst>
          </p:cNvPr>
          <p:cNvSpPr>
            <a:spLocks noGrp="1"/>
          </p:cNvSpPr>
          <p:nvPr/>
        </p:nvSpPr>
        <p:spPr>
          <a:xfrm>
            <a:off x="5712474" y="4286250"/>
            <a:ext cx="666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1.21M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F3FBFA-9980-4B74-BD12-16CA6A70549A}"/>
              </a:ext>
            </a:extLst>
          </p:cNvPr>
          <p:cNvSpPr>
            <a:spLocks noGrp="1"/>
          </p:cNvSpPr>
          <p:nvPr/>
        </p:nvSpPr>
        <p:spPr>
          <a:xfrm>
            <a:off x="895350" y="4591050"/>
            <a:ext cx="114300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2022-05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A1E2F1-0492-4E92-B100-2D47EBCFD0D8}"/>
              </a:ext>
            </a:extLst>
          </p:cNvPr>
          <p:cNvSpPr>
            <a:spLocks noGrp="1"/>
          </p:cNvSpPr>
          <p:nvPr/>
        </p:nvSpPr>
        <p:spPr>
          <a:xfrm>
            <a:off x="2190750" y="4629150"/>
            <a:ext cx="3393299" cy="152400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F01A02-B9C8-411E-A370-CAFD5383B047}"/>
              </a:ext>
            </a:extLst>
          </p:cNvPr>
          <p:cNvSpPr>
            <a:spLocks noGrp="1"/>
          </p:cNvSpPr>
          <p:nvPr/>
        </p:nvSpPr>
        <p:spPr>
          <a:xfrm>
            <a:off x="5660249" y="4591050"/>
            <a:ext cx="666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1.19M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8AB01B-5CB3-45E6-9379-2FCAD693FBFC}"/>
              </a:ext>
            </a:extLst>
          </p:cNvPr>
          <p:cNvSpPr>
            <a:spLocks noGrp="1"/>
          </p:cNvSpPr>
          <p:nvPr/>
        </p:nvSpPr>
        <p:spPr>
          <a:xfrm>
            <a:off x="895350" y="4895850"/>
            <a:ext cx="114300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2016-07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0D2475-E834-49F5-AD35-DDBE02A9DBC0}"/>
              </a:ext>
            </a:extLst>
          </p:cNvPr>
          <p:cNvSpPr>
            <a:spLocks noGrp="1"/>
          </p:cNvSpPr>
          <p:nvPr/>
        </p:nvSpPr>
        <p:spPr>
          <a:xfrm>
            <a:off x="2190750" y="4933950"/>
            <a:ext cx="3345161" cy="152400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E14DDC-9FE5-46FE-BEDA-8B5164D5FCC2}"/>
              </a:ext>
            </a:extLst>
          </p:cNvPr>
          <p:cNvSpPr>
            <a:spLocks noGrp="1"/>
          </p:cNvSpPr>
          <p:nvPr/>
        </p:nvSpPr>
        <p:spPr>
          <a:xfrm>
            <a:off x="5612111" y="4895850"/>
            <a:ext cx="666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1.17M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228D16-AFE3-4452-8499-6E29C6975E06}"/>
              </a:ext>
            </a:extLst>
          </p:cNvPr>
          <p:cNvSpPr>
            <a:spLocks noGrp="1"/>
          </p:cNvSpPr>
          <p:nvPr/>
        </p:nvSpPr>
        <p:spPr>
          <a:xfrm>
            <a:off x="895350" y="5200650"/>
            <a:ext cx="114300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2021-06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5CF360-AB1B-4A97-868D-87F3E1798A89}"/>
              </a:ext>
            </a:extLst>
          </p:cNvPr>
          <p:cNvSpPr>
            <a:spLocks noGrp="1"/>
          </p:cNvSpPr>
          <p:nvPr/>
        </p:nvSpPr>
        <p:spPr>
          <a:xfrm>
            <a:off x="2190750" y="5238750"/>
            <a:ext cx="3333484" cy="152400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052862-D79D-4BC4-BE63-0EDA5735C0CD}"/>
              </a:ext>
            </a:extLst>
          </p:cNvPr>
          <p:cNvSpPr>
            <a:spLocks noGrp="1"/>
          </p:cNvSpPr>
          <p:nvPr/>
        </p:nvSpPr>
        <p:spPr>
          <a:xfrm>
            <a:off x="5600434" y="5200650"/>
            <a:ext cx="666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1.17M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E3443D-C78D-47B4-B3A9-B590E6CD2482}"/>
              </a:ext>
            </a:extLst>
          </p:cNvPr>
          <p:cNvSpPr>
            <a:spLocks noGrp="1"/>
          </p:cNvSpPr>
          <p:nvPr/>
        </p:nvSpPr>
        <p:spPr>
          <a:xfrm>
            <a:off x="7953375" y="2333625"/>
            <a:ext cx="2857500" cy="21717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869C45-7756-44E6-BA59-295854E99DE6}"/>
              </a:ext>
            </a:extLst>
          </p:cNvPr>
          <p:cNvSpPr>
            <a:spLocks noGrp="1"/>
          </p:cNvSpPr>
          <p:nvPr/>
        </p:nvSpPr>
        <p:spPr>
          <a:xfrm>
            <a:off x="8210550" y="2590800"/>
            <a:ext cx="180975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Top months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DC97AE4-7637-41F0-A606-20F4232F0707}"/>
              </a:ext>
            </a:extLst>
          </p:cNvPr>
          <p:cNvSpPr>
            <a:spLocks noGrp="1"/>
          </p:cNvSpPr>
          <p:nvPr/>
        </p:nvSpPr>
        <p:spPr>
          <a:xfrm>
            <a:off x="8210550" y="3028950"/>
            <a:ext cx="2190750" cy="10477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2022-07  1.30M 2022-06  1.27M 2022-08  1.25M 2018-07  1.24M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129D93-74FA-42ED-AE49-D6C83D929FC9}"/>
              </a:ext>
            </a:extLst>
          </p:cNvPr>
          <p:cNvSpPr>
            <a:spLocks noGrp="1"/>
          </p:cNvSpPr>
          <p:nvPr/>
        </p:nvSpPr>
        <p:spPr>
          <a:xfrm>
            <a:off x="7981950" y="4819650"/>
            <a:ext cx="2914650" cy="4191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4285F4"/>
                </a:solidFill>
                <a:latin typeface="Aptos"/>
                <a:ea typeface="Aptos"/>
                <a:cs typeface="Aptos"/>
              </a:defRPr>
            </a:pPr>
            <a:r>
              <a:t>Highest single day: 2015-07-09 with 72,295 trips.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C3680E0-6E3E-4B7E-B284-DB5E43BE216C}"/>
              </a:ext>
            </a:extLst>
          </p:cNvPr>
          <p:cNvSpPr>
            <a:spLocks noGrp="1"/>
          </p:cNvSpPr>
          <p:nvPr/>
        </p:nvSpPr>
        <p:spPr>
          <a:xfrm>
            <a:off x="457200" y="6343650"/>
            <a:ext cx="857250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Aptos"/>
                <a:ea typeface="Aptos"/>
                <a:cs typeface="Aptos"/>
              </a:defRPr>
            </a:pPr>
            <a:r>
              <a:t>Source: mart_daily_demand aggregated monthly.</a:t>
            </a:r>
          </a:p>
        </p:txBody>
      </p:sp>
    </p:spTree>
    <p:extLst>
      <p:ext uri="{BB962C8B-B14F-4D97-AF65-F5344CB8AC3E}">
        <p14:creationId xmlns:p14="http://schemas.microsoft.com/office/powerpoint/2010/main" val="1874249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59DBC4A-41A1-4D3E-9528-ADFA83F97D3A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85725" cy="857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EC82D9-B063-4A17-B947-10999E473CE5}"/>
              </a:ext>
            </a:extLst>
          </p:cNvPr>
          <p:cNvSpPr>
            <a:spLocks noGrp="1"/>
          </p:cNvSpPr>
          <p:nvPr/>
        </p:nvSpPr>
        <p:spPr>
          <a:xfrm>
            <a:off x="628650" y="295275"/>
            <a:ext cx="3429000" cy="22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dirty="0"/>
              <a:t>STATION ACTIVITY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E3D476-B4D3-4960-A95C-AD78691A28A8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799CA8-A23B-4B3D-8499-4F4CF9C1A1BE}"/>
              </a:ext>
            </a:extLst>
          </p:cNvPr>
          <p:cNvSpPr>
            <a:spLocks noGrp="1"/>
          </p:cNvSpPr>
          <p:nvPr/>
        </p:nvSpPr>
        <p:spPr>
          <a:xfrm>
            <a:off x="457200" y="6248400"/>
            <a:ext cx="10839450" cy="9525"/>
          </a:xfrm>
          <a:prstGeom prst="rect">
            <a:avLst/>
          </a:prstGeom>
          <a:solidFill>
            <a:srgbClr val="E8E3DA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21CFFA-91A5-4373-BC5C-5D7B4336F043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7810500" cy="8763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Activity concentrates around central, park, and transport stations.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7310F5-D457-4269-8873-5D67A777656C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7905750" cy="4572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The busiest stations are not only high-volume; they are operational anchors for bike availability.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65DC1C-85A2-46A3-996E-039EF5EC205D}"/>
              </a:ext>
            </a:extLst>
          </p:cNvPr>
          <p:cNvSpPr>
            <a:spLocks noGrp="1"/>
          </p:cNvSpPr>
          <p:nvPr/>
        </p:nvSpPr>
        <p:spPr>
          <a:xfrm>
            <a:off x="514350" y="2228850"/>
            <a:ext cx="6953250" cy="36385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DEEF39-CAB2-4EEC-A01A-A1317D4A7C9D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285750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Top stations by total activity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DE7C7F-21AF-42E7-B1A5-76CE8EB607DB}"/>
              </a:ext>
            </a:extLst>
          </p:cNvPr>
          <p:cNvSpPr>
            <a:spLocks noGrp="1"/>
          </p:cNvSpPr>
          <p:nvPr/>
        </p:nvSpPr>
        <p:spPr>
          <a:xfrm>
            <a:off x="781050" y="3028950"/>
            <a:ext cx="20002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Hyde Park Corner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E60D29-5054-4840-B188-A30A5A8B9D5C}"/>
              </a:ext>
            </a:extLst>
          </p:cNvPr>
          <p:cNvSpPr>
            <a:spLocks noGrp="1"/>
          </p:cNvSpPr>
          <p:nvPr/>
        </p:nvSpPr>
        <p:spPr>
          <a:xfrm>
            <a:off x="2933700" y="3067050"/>
            <a:ext cx="3143250" cy="152400"/>
          </a:xfrm>
          <a:prstGeom prst="rect">
            <a:avLst/>
          </a:prstGeom>
          <a:solidFill>
            <a:srgbClr val="34A853"/>
          </a:solidFill>
          <a:ln w="9525">
            <a:solidFill>
              <a:srgbClr val="34A853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E8749E-8F5D-4E77-AC4F-7A2A709E4B4B}"/>
              </a:ext>
            </a:extLst>
          </p:cNvPr>
          <p:cNvSpPr>
            <a:spLocks noGrp="1"/>
          </p:cNvSpPr>
          <p:nvPr/>
        </p:nvSpPr>
        <p:spPr>
          <a:xfrm>
            <a:off x="6153150" y="3028950"/>
            <a:ext cx="666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1.31M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6FE030-85EE-4EC9-9CEC-567383191F8A}"/>
              </a:ext>
            </a:extLst>
          </p:cNvPr>
          <p:cNvSpPr>
            <a:spLocks noGrp="1"/>
          </p:cNvSpPr>
          <p:nvPr/>
        </p:nvSpPr>
        <p:spPr>
          <a:xfrm>
            <a:off x="781050" y="3371850"/>
            <a:ext cx="20002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Argyle St, Kings Cross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78EF24-AC90-4D76-BC27-F45167904C2E}"/>
              </a:ext>
            </a:extLst>
          </p:cNvPr>
          <p:cNvSpPr>
            <a:spLocks noGrp="1"/>
          </p:cNvSpPr>
          <p:nvPr/>
        </p:nvSpPr>
        <p:spPr>
          <a:xfrm>
            <a:off x="2933700" y="3409950"/>
            <a:ext cx="2754628" cy="152400"/>
          </a:xfrm>
          <a:prstGeom prst="rect">
            <a:avLst/>
          </a:prstGeom>
          <a:solidFill>
            <a:srgbClr val="34A853"/>
          </a:solidFill>
          <a:ln w="9525">
            <a:solidFill>
              <a:srgbClr val="34A853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04DDF7-C9AB-4E4C-8BA2-71D6774207A9}"/>
              </a:ext>
            </a:extLst>
          </p:cNvPr>
          <p:cNvSpPr>
            <a:spLocks noGrp="1"/>
          </p:cNvSpPr>
          <p:nvPr/>
        </p:nvSpPr>
        <p:spPr>
          <a:xfrm>
            <a:off x="5764528" y="3371850"/>
            <a:ext cx="666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1.15M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648794-9448-4D40-9578-8B0B9EA62098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20002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Waterloo Station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A95B59-3D4F-40B8-9AA4-FBCB27975D24}"/>
              </a:ext>
            </a:extLst>
          </p:cNvPr>
          <p:cNvSpPr>
            <a:spLocks noGrp="1"/>
          </p:cNvSpPr>
          <p:nvPr/>
        </p:nvSpPr>
        <p:spPr>
          <a:xfrm>
            <a:off x="2933700" y="3752850"/>
            <a:ext cx="2405997" cy="152400"/>
          </a:xfrm>
          <a:prstGeom prst="rect">
            <a:avLst/>
          </a:prstGeom>
          <a:solidFill>
            <a:srgbClr val="34A853"/>
          </a:solidFill>
          <a:ln w="9525">
            <a:solidFill>
              <a:srgbClr val="34A853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1F79F0-F2A9-40D5-8518-FAF4147C5F94}"/>
              </a:ext>
            </a:extLst>
          </p:cNvPr>
          <p:cNvSpPr>
            <a:spLocks noGrp="1"/>
          </p:cNvSpPr>
          <p:nvPr/>
        </p:nvSpPr>
        <p:spPr>
          <a:xfrm>
            <a:off x="5415897" y="3714750"/>
            <a:ext cx="666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1.01M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E97FB2-9426-4102-88B0-7AC75E6823D9}"/>
              </a:ext>
            </a:extLst>
          </p:cNvPr>
          <p:cNvSpPr>
            <a:spLocks noGrp="1"/>
          </p:cNvSpPr>
          <p:nvPr/>
        </p:nvSpPr>
        <p:spPr>
          <a:xfrm>
            <a:off x="781050" y="4057650"/>
            <a:ext cx="20002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Albert Gate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E66A69-F32C-4B4E-B76C-56A3E9B2A66D}"/>
              </a:ext>
            </a:extLst>
          </p:cNvPr>
          <p:cNvSpPr>
            <a:spLocks noGrp="1"/>
          </p:cNvSpPr>
          <p:nvPr/>
        </p:nvSpPr>
        <p:spPr>
          <a:xfrm>
            <a:off x="2933700" y="4095750"/>
            <a:ext cx="2167497" cy="152400"/>
          </a:xfrm>
          <a:prstGeom prst="rect">
            <a:avLst/>
          </a:prstGeom>
          <a:solidFill>
            <a:srgbClr val="34A853"/>
          </a:solidFill>
          <a:ln w="9525">
            <a:solidFill>
              <a:srgbClr val="34A853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848AD5-FA45-480A-A3B4-E62E59DB2916}"/>
              </a:ext>
            </a:extLst>
          </p:cNvPr>
          <p:cNvSpPr>
            <a:spLocks noGrp="1"/>
          </p:cNvSpPr>
          <p:nvPr/>
        </p:nvSpPr>
        <p:spPr>
          <a:xfrm>
            <a:off x="5177397" y="4057650"/>
            <a:ext cx="666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0.91M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0595C5-E30F-45BC-96DC-6FF624E77AEF}"/>
              </a:ext>
            </a:extLst>
          </p:cNvPr>
          <p:cNvSpPr>
            <a:spLocks noGrp="1"/>
          </p:cNvSpPr>
          <p:nvPr/>
        </p:nvSpPr>
        <p:spPr>
          <a:xfrm>
            <a:off x="781050" y="4400550"/>
            <a:ext cx="20002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Black Lion Gate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424FDE-48D1-49DD-B8CA-4559EA9D7948}"/>
              </a:ext>
            </a:extLst>
          </p:cNvPr>
          <p:cNvSpPr>
            <a:spLocks noGrp="1"/>
          </p:cNvSpPr>
          <p:nvPr/>
        </p:nvSpPr>
        <p:spPr>
          <a:xfrm>
            <a:off x="2933700" y="4438650"/>
            <a:ext cx="2140094" cy="152400"/>
          </a:xfrm>
          <a:prstGeom prst="rect">
            <a:avLst/>
          </a:prstGeom>
          <a:solidFill>
            <a:srgbClr val="34A853"/>
          </a:solidFill>
          <a:ln w="9525">
            <a:solidFill>
              <a:srgbClr val="34A853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D51996-F01E-4046-A1CC-F244D764A132}"/>
              </a:ext>
            </a:extLst>
          </p:cNvPr>
          <p:cNvSpPr>
            <a:spLocks noGrp="1"/>
          </p:cNvSpPr>
          <p:nvPr/>
        </p:nvSpPr>
        <p:spPr>
          <a:xfrm>
            <a:off x="5149994" y="4400550"/>
            <a:ext cx="666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0.89M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CC8EC3-102F-46CA-8168-00DE34499C25}"/>
              </a:ext>
            </a:extLst>
          </p:cNvPr>
          <p:cNvSpPr>
            <a:spLocks noGrp="1"/>
          </p:cNvSpPr>
          <p:nvPr/>
        </p:nvSpPr>
        <p:spPr>
          <a:xfrm>
            <a:off x="781050" y="4743450"/>
            <a:ext cx="20002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Hop Exchange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4B3A98-C47A-4618-B2C3-B2C227CB48D9}"/>
              </a:ext>
            </a:extLst>
          </p:cNvPr>
          <p:cNvSpPr>
            <a:spLocks noGrp="1"/>
          </p:cNvSpPr>
          <p:nvPr/>
        </p:nvSpPr>
        <p:spPr>
          <a:xfrm>
            <a:off x="2933700" y="4781550"/>
            <a:ext cx="2098981" cy="152400"/>
          </a:xfrm>
          <a:prstGeom prst="rect">
            <a:avLst/>
          </a:prstGeom>
          <a:solidFill>
            <a:srgbClr val="34A853"/>
          </a:solidFill>
          <a:ln w="9525">
            <a:solidFill>
              <a:srgbClr val="34A853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250D0A-6844-413D-86FA-16F0B4E3CFBD}"/>
              </a:ext>
            </a:extLst>
          </p:cNvPr>
          <p:cNvSpPr>
            <a:spLocks noGrp="1"/>
          </p:cNvSpPr>
          <p:nvPr/>
        </p:nvSpPr>
        <p:spPr>
          <a:xfrm>
            <a:off x="5108881" y="4743450"/>
            <a:ext cx="666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0.88M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0A1B0A-DABC-4455-A819-285141616E86}"/>
              </a:ext>
            </a:extLst>
          </p:cNvPr>
          <p:cNvSpPr>
            <a:spLocks noGrp="1"/>
          </p:cNvSpPr>
          <p:nvPr/>
        </p:nvSpPr>
        <p:spPr>
          <a:xfrm>
            <a:off x="781050" y="5086350"/>
            <a:ext cx="20002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Waterloo Station 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155BA2-608B-4950-810C-23DCBE7AA3C3}"/>
              </a:ext>
            </a:extLst>
          </p:cNvPr>
          <p:cNvSpPr>
            <a:spLocks noGrp="1"/>
          </p:cNvSpPr>
          <p:nvPr/>
        </p:nvSpPr>
        <p:spPr>
          <a:xfrm>
            <a:off x="2933700" y="5124450"/>
            <a:ext cx="1911015" cy="152400"/>
          </a:xfrm>
          <a:prstGeom prst="rect">
            <a:avLst/>
          </a:prstGeom>
          <a:solidFill>
            <a:srgbClr val="34A853"/>
          </a:solidFill>
          <a:ln w="9525">
            <a:solidFill>
              <a:srgbClr val="34A853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E74B88-19EC-4067-8520-8721FF9592C1}"/>
              </a:ext>
            </a:extLst>
          </p:cNvPr>
          <p:cNvSpPr>
            <a:spLocks noGrp="1"/>
          </p:cNvSpPr>
          <p:nvPr/>
        </p:nvSpPr>
        <p:spPr>
          <a:xfrm>
            <a:off x="4920915" y="5086350"/>
            <a:ext cx="666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0.80M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6CBF46-8B48-46C1-B796-461B5F1C62AB}"/>
              </a:ext>
            </a:extLst>
          </p:cNvPr>
          <p:cNvSpPr>
            <a:spLocks noGrp="1"/>
          </p:cNvSpPr>
          <p:nvPr/>
        </p:nvSpPr>
        <p:spPr>
          <a:xfrm>
            <a:off x="7924800" y="2343150"/>
            <a:ext cx="2952750" cy="2333625"/>
          </a:xfrm>
          <a:prstGeom prst="rect">
            <a:avLst/>
          </a:prstGeom>
          <a:solidFill>
            <a:srgbClr val="18212B"/>
          </a:solidFill>
          <a:ln w="9525">
            <a:solidFill>
              <a:srgbClr val="18212B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9639EB-A307-4791-9583-48329EE1A956}"/>
              </a:ext>
            </a:extLst>
          </p:cNvPr>
          <p:cNvSpPr>
            <a:spLocks noGrp="1"/>
          </p:cNvSpPr>
          <p:nvPr/>
        </p:nvSpPr>
        <p:spPr>
          <a:xfrm>
            <a:off x="8191500" y="2647950"/>
            <a:ext cx="180975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D3FF"/>
                </a:solidFill>
                <a:latin typeface="Aptos"/>
                <a:ea typeface="Aptos"/>
                <a:cs typeface="Aptos"/>
              </a:defRPr>
            </a:pPr>
            <a:r>
              <a:t>Busiest station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F4ED01-7839-4037-989B-08E61C894CF0}"/>
              </a:ext>
            </a:extLst>
          </p:cNvPr>
          <p:cNvSpPr>
            <a:spLocks noGrp="1"/>
          </p:cNvSpPr>
          <p:nvPr/>
        </p:nvSpPr>
        <p:spPr>
          <a:xfrm>
            <a:off x="8191500" y="3048000"/>
            <a:ext cx="2190750" cy="7429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Hyde Park Corner, Hyde Park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4DE8376-D7C2-4C87-A786-365A15D3CB39}"/>
              </a:ext>
            </a:extLst>
          </p:cNvPr>
          <p:cNvSpPr>
            <a:spLocks noGrp="1"/>
          </p:cNvSpPr>
          <p:nvPr/>
        </p:nvSpPr>
        <p:spPr>
          <a:xfrm>
            <a:off x="8191500" y="4029075"/>
            <a:ext cx="2190750" cy="4381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E7EEF8"/>
                </a:solidFill>
                <a:latin typeface="Aptos"/>
                <a:ea typeface="Aptos"/>
                <a:cs typeface="Aptos"/>
              </a:defRPr>
            </a:pPr>
            <a:r>
              <a:t>1,313,799 total arrivals and departures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1E2230-F952-406B-895A-EBCB00E1D8DC}"/>
              </a:ext>
            </a:extLst>
          </p:cNvPr>
          <p:cNvSpPr>
            <a:spLocks noGrp="1"/>
          </p:cNvSpPr>
          <p:nvPr/>
        </p:nvSpPr>
        <p:spPr>
          <a:xfrm>
            <a:off x="7962900" y="5010150"/>
            <a:ext cx="2857500" cy="4572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Use top stations as priority locations for monitoring and capacity planning.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1B680A8-5108-4300-9141-23DEAD97983D}"/>
              </a:ext>
            </a:extLst>
          </p:cNvPr>
          <p:cNvSpPr>
            <a:spLocks noGrp="1"/>
          </p:cNvSpPr>
          <p:nvPr/>
        </p:nvSpPr>
        <p:spPr>
          <a:xfrm>
            <a:off x="457200" y="6343650"/>
            <a:ext cx="857250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Aptos"/>
                <a:ea typeface="Aptos"/>
                <a:cs typeface="Aptos"/>
              </a:defRPr>
            </a:pPr>
            <a:r>
              <a:t>Source: mart_station_activity.</a:t>
            </a:r>
          </a:p>
        </p:txBody>
      </p:sp>
    </p:spTree>
    <p:extLst>
      <p:ext uri="{BB962C8B-B14F-4D97-AF65-F5344CB8AC3E}">
        <p14:creationId xmlns:p14="http://schemas.microsoft.com/office/powerpoint/2010/main" val="881477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4EBB9500-76CD-4C90-ABA3-B434C79FC1FF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85725" cy="857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46DF4F-00F9-4F33-AB45-7C7E3B59BDD3}"/>
              </a:ext>
            </a:extLst>
          </p:cNvPr>
          <p:cNvSpPr>
            <a:spLocks noGrp="1"/>
          </p:cNvSpPr>
          <p:nvPr/>
        </p:nvSpPr>
        <p:spPr>
          <a:xfrm>
            <a:off x="628650" y="295275"/>
            <a:ext cx="3429000" cy="22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dirty="0"/>
              <a:t>IMBALANCE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FC14BD-FD2F-4F07-B7E1-20FBF6752FC9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5E5A9C-669D-43B2-A935-C1EA8CD0E02C}"/>
              </a:ext>
            </a:extLst>
          </p:cNvPr>
          <p:cNvSpPr>
            <a:spLocks noGrp="1"/>
          </p:cNvSpPr>
          <p:nvPr/>
        </p:nvSpPr>
        <p:spPr>
          <a:xfrm>
            <a:off x="457200" y="6248400"/>
            <a:ext cx="10839450" cy="9525"/>
          </a:xfrm>
          <a:prstGeom prst="rect">
            <a:avLst/>
          </a:prstGeom>
          <a:solidFill>
            <a:srgbClr val="E8E3DA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9DBDF7-5BC1-4086-ADEF-9D7F066948E9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7810500" cy="8763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Imbalance points directly to bike and dock pressure.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96B6A9-C126-4F5B-9BA9-8712478837FD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8382000" cy="4572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Positive net departures suggest bikes are leaving faster than they return; negative values suggest arrival/dock pressure.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FCC7AC-EAC2-469B-B2C5-CB337F5E9C0E}"/>
              </a:ext>
            </a:extLst>
          </p:cNvPr>
          <p:cNvSpPr>
            <a:spLocks noGrp="1"/>
          </p:cNvSpPr>
          <p:nvPr/>
        </p:nvSpPr>
        <p:spPr>
          <a:xfrm>
            <a:off x="495300" y="2209800"/>
            <a:ext cx="674370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7001CD-44B6-4A2C-A77E-0A1C889BBD55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409575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Stations with largest arrival/departure imbalance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EFE425-8C74-4612-8424-22B7FDB1D68A}"/>
              </a:ext>
            </a:extLst>
          </p:cNvPr>
          <p:cNvSpPr>
            <a:spLocks noGrp="1"/>
          </p:cNvSpPr>
          <p:nvPr/>
        </p:nvSpPr>
        <p:spPr>
          <a:xfrm>
            <a:off x="3638550" y="2952750"/>
            <a:ext cx="9525" cy="2647950"/>
          </a:xfrm>
          <a:prstGeom prst="rect">
            <a:avLst/>
          </a:prstGeom>
          <a:solidFill>
            <a:srgbClr val="98A2B3"/>
          </a:solidFill>
          <a:ln w="9525">
            <a:solidFill>
              <a:srgbClr val="98A2B3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07BE76-EDA5-4CF1-AFA5-3721C3472889}"/>
              </a:ext>
            </a:extLst>
          </p:cNvPr>
          <p:cNvSpPr>
            <a:spLocks noGrp="1"/>
          </p:cNvSpPr>
          <p:nvPr/>
        </p:nvSpPr>
        <p:spPr>
          <a:xfrm>
            <a:off x="781050" y="3028950"/>
            <a:ext cx="2190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Hop Exchange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C7624D-500E-4D53-82FC-C857EF168BF9}"/>
              </a:ext>
            </a:extLst>
          </p:cNvPr>
          <p:cNvSpPr>
            <a:spLocks noGrp="1"/>
          </p:cNvSpPr>
          <p:nvPr/>
        </p:nvSpPr>
        <p:spPr>
          <a:xfrm>
            <a:off x="2305050" y="3076575"/>
            <a:ext cx="1333500" cy="142875"/>
          </a:xfrm>
          <a:prstGeom prst="rect">
            <a:avLst/>
          </a:prstGeom>
          <a:solidFill>
            <a:srgbClr val="EA4335"/>
          </a:solidFill>
          <a:ln w="9525">
            <a:solidFill>
              <a:srgbClr val="EA433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022DCE-B260-4864-AD8D-E19211FE890A}"/>
              </a:ext>
            </a:extLst>
          </p:cNvPr>
          <p:cNvSpPr>
            <a:spLocks noGrp="1"/>
          </p:cNvSpPr>
          <p:nvPr/>
        </p:nvSpPr>
        <p:spPr>
          <a:xfrm>
            <a:off x="1524000" y="3028950"/>
            <a:ext cx="70485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-127k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293828-E1EF-4A45-9DD7-F5BE4AC91FB7}"/>
              </a:ext>
            </a:extLst>
          </p:cNvPr>
          <p:cNvSpPr>
            <a:spLocks noGrp="1"/>
          </p:cNvSpPr>
          <p:nvPr/>
        </p:nvSpPr>
        <p:spPr>
          <a:xfrm>
            <a:off x="781050" y="3314700"/>
            <a:ext cx="2190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Holborn Circus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3E67AF-55C7-4F1A-8F2E-A6F7FF519D05}"/>
              </a:ext>
            </a:extLst>
          </p:cNvPr>
          <p:cNvSpPr>
            <a:spLocks noGrp="1"/>
          </p:cNvSpPr>
          <p:nvPr/>
        </p:nvSpPr>
        <p:spPr>
          <a:xfrm>
            <a:off x="2813142" y="3362325"/>
            <a:ext cx="825408" cy="142875"/>
          </a:xfrm>
          <a:prstGeom prst="rect">
            <a:avLst/>
          </a:prstGeom>
          <a:solidFill>
            <a:srgbClr val="EA4335"/>
          </a:solidFill>
          <a:ln w="9525">
            <a:solidFill>
              <a:srgbClr val="EA433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AD0C17-FAF0-42F8-8BC0-6879BC91B581}"/>
              </a:ext>
            </a:extLst>
          </p:cNvPr>
          <p:cNvSpPr>
            <a:spLocks noGrp="1"/>
          </p:cNvSpPr>
          <p:nvPr/>
        </p:nvSpPr>
        <p:spPr>
          <a:xfrm>
            <a:off x="2032092" y="3314700"/>
            <a:ext cx="70485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-79k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9C188D-8FE5-4190-A099-CCDECC66D221}"/>
              </a:ext>
            </a:extLst>
          </p:cNvPr>
          <p:cNvSpPr>
            <a:spLocks noGrp="1"/>
          </p:cNvSpPr>
          <p:nvPr/>
        </p:nvSpPr>
        <p:spPr>
          <a:xfrm>
            <a:off x="781050" y="3600450"/>
            <a:ext cx="2190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St. James Sq.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BD7E81-0E66-4AC5-B0E0-F7AAC6BDCF44}"/>
              </a:ext>
            </a:extLst>
          </p:cNvPr>
          <p:cNvSpPr>
            <a:spLocks noGrp="1"/>
          </p:cNvSpPr>
          <p:nvPr/>
        </p:nvSpPr>
        <p:spPr>
          <a:xfrm>
            <a:off x="2926397" y="3648075"/>
            <a:ext cx="712153" cy="142875"/>
          </a:xfrm>
          <a:prstGeom prst="rect">
            <a:avLst/>
          </a:prstGeom>
          <a:solidFill>
            <a:srgbClr val="EA4335"/>
          </a:solidFill>
          <a:ln w="9525">
            <a:solidFill>
              <a:srgbClr val="EA433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3BF91D-7175-4A6E-B32D-4E9F3BD9D6FE}"/>
              </a:ext>
            </a:extLst>
          </p:cNvPr>
          <p:cNvSpPr>
            <a:spLocks noGrp="1"/>
          </p:cNvSpPr>
          <p:nvPr/>
        </p:nvSpPr>
        <p:spPr>
          <a:xfrm>
            <a:off x="2145347" y="3600450"/>
            <a:ext cx="70485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-68k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E826-2263-4F06-B7CB-698B92B837D0}"/>
              </a:ext>
            </a:extLst>
          </p:cNvPr>
          <p:cNvSpPr>
            <a:spLocks noGrp="1"/>
          </p:cNvSpPr>
          <p:nvPr/>
        </p:nvSpPr>
        <p:spPr>
          <a:xfrm>
            <a:off x="781050" y="3886200"/>
            <a:ext cx="2190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Waterloo Stn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DE4FC3-320D-46A8-892A-D80A7A19B22B}"/>
              </a:ext>
            </a:extLst>
          </p:cNvPr>
          <p:cNvSpPr>
            <a:spLocks noGrp="1"/>
          </p:cNvSpPr>
          <p:nvPr/>
        </p:nvSpPr>
        <p:spPr>
          <a:xfrm>
            <a:off x="3638550" y="3933825"/>
            <a:ext cx="709883" cy="14287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F7B394-47F0-46D8-8656-48710E656917}"/>
              </a:ext>
            </a:extLst>
          </p:cNvPr>
          <p:cNvSpPr>
            <a:spLocks noGrp="1"/>
          </p:cNvSpPr>
          <p:nvPr/>
        </p:nvSpPr>
        <p:spPr>
          <a:xfrm>
            <a:off x="4424633" y="3886200"/>
            <a:ext cx="70485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+68k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3F543B-5E0B-49B2-9096-C0F8135D164A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2190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Brushfield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2A4FFC-D85E-46A4-9379-23DA60EE52A2}"/>
              </a:ext>
            </a:extLst>
          </p:cNvPr>
          <p:cNvSpPr>
            <a:spLocks noGrp="1"/>
          </p:cNvSpPr>
          <p:nvPr/>
        </p:nvSpPr>
        <p:spPr>
          <a:xfrm>
            <a:off x="3092612" y="4219575"/>
            <a:ext cx="545938" cy="142875"/>
          </a:xfrm>
          <a:prstGeom prst="rect">
            <a:avLst/>
          </a:prstGeom>
          <a:solidFill>
            <a:srgbClr val="EA4335"/>
          </a:solidFill>
          <a:ln w="9525">
            <a:solidFill>
              <a:srgbClr val="EA433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BD8487-5FED-450F-92C8-7798F2EF6E56}"/>
              </a:ext>
            </a:extLst>
          </p:cNvPr>
          <p:cNvSpPr>
            <a:spLocks noGrp="1"/>
          </p:cNvSpPr>
          <p:nvPr/>
        </p:nvSpPr>
        <p:spPr>
          <a:xfrm>
            <a:off x="2311562" y="4171950"/>
            <a:ext cx="70485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-52k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BA7515-E50D-40BA-BCBC-1D2476A9FFED}"/>
              </a:ext>
            </a:extLst>
          </p:cNvPr>
          <p:cNvSpPr>
            <a:spLocks noGrp="1"/>
          </p:cNvSpPr>
          <p:nvPr/>
        </p:nvSpPr>
        <p:spPr>
          <a:xfrm>
            <a:off x="781050" y="4457700"/>
            <a:ext cx="2190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William IV St.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E22342-FC36-4CC7-A4C2-66A11FF918B6}"/>
              </a:ext>
            </a:extLst>
          </p:cNvPr>
          <p:cNvSpPr>
            <a:spLocks noGrp="1"/>
          </p:cNvSpPr>
          <p:nvPr/>
        </p:nvSpPr>
        <p:spPr>
          <a:xfrm>
            <a:off x="3167268" y="4505325"/>
            <a:ext cx="471282" cy="142875"/>
          </a:xfrm>
          <a:prstGeom prst="rect">
            <a:avLst/>
          </a:prstGeom>
          <a:solidFill>
            <a:srgbClr val="EA4335"/>
          </a:solidFill>
          <a:ln w="9525">
            <a:solidFill>
              <a:srgbClr val="EA433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DDA588-BFBA-4DCD-B2FE-28E35BCF525E}"/>
              </a:ext>
            </a:extLst>
          </p:cNvPr>
          <p:cNvSpPr>
            <a:spLocks noGrp="1"/>
          </p:cNvSpPr>
          <p:nvPr/>
        </p:nvSpPr>
        <p:spPr>
          <a:xfrm>
            <a:off x="2386218" y="4457700"/>
            <a:ext cx="70485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-45k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F97F0C-3131-4143-941D-0303A0351B1B}"/>
              </a:ext>
            </a:extLst>
          </p:cNvPr>
          <p:cNvSpPr>
            <a:spLocks noGrp="1"/>
          </p:cNvSpPr>
          <p:nvPr/>
        </p:nvSpPr>
        <p:spPr>
          <a:xfrm>
            <a:off x="781050" y="4743450"/>
            <a:ext cx="2190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Eagle Wharf Rd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2C4D3A-B138-4F77-A30F-8E9171C32C96}"/>
              </a:ext>
            </a:extLst>
          </p:cNvPr>
          <p:cNvSpPr>
            <a:spLocks noGrp="1"/>
          </p:cNvSpPr>
          <p:nvPr/>
        </p:nvSpPr>
        <p:spPr>
          <a:xfrm>
            <a:off x="3638550" y="4791075"/>
            <a:ext cx="432704" cy="14287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A9BAC8-46CB-4E0A-8508-B5E60F919447}"/>
              </a:ext>
            </a:extLst>
          </p:cNvPr>
          <p:cNvSpPr>
            <a:spLocks noGrp="1"/>
          </p:cNvSpPr>
          <p:nvPr/>
        </p:nvSpPr>
        <p:spPr>
          <a:xfrm>
            <a:off x="4147454" y="4743450"/>
            <a:ext cx="70485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+41k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B7AC58-B21F-484B-91F1-1251463D45E0}"/>
              </a:ext>
            </a:extLst>
          </p:cNvPr>
          <p:cNvSpPr>
            <a:spLocks noGrp="1"/>
          </p:cNvSpPr>
          <p:nvPr/>
        </p:nvSpPr>
        <p:spPr>
          <a:xfrm>
            <a:off x="781050" y="5029200"/>
            <a:ext cx="2190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Cloudesley Rd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2F7DB4-EABA-4E68-8436-974587F0C8E4}"/>
              </a:ext>
            </a:extLst>
          </p:cNvPr>
          <p:cNvSpPr>
            <a:spLocks noGrp="1"/>
          </p:cNvSpPr>
          <p:nvPr/>
        </p:nvSpPr>
        <p:spPr>
          <a:xfrm>
            <a:off x="3638550" y="5076825"/>
            <a:ext cx="359858" cy="14287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DAACED-1085-4815-9710-8FFB8D9E0BE6}"/>
              </a:ext>
            </a:extLst>
          </p:cNvPr>
          <p:cNvSpPr>
            <a:spLocks noGrp="1"/>
          </p:cNvSpPr>
          <p:nvPr/>
        </p:nvSpPr>
        <p:spPr>
          <a:xfrm>
            <a:off x="4074608" y="5029200"/>
            <a:ext cx="70485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+34k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FBFA9D-CBEA-4F4E-9818-3DD6500CD1AD}"/>
              </a:ext>
            </a:extLst>
          </p:cNvPr>
          <p:cNvSpPr>
            <a:spLocks noGrp="1"/>
          </p:cNvSpPr>
          <p:nvPr/>
        </p:nvSpPr>
        <p:spPr>
          <a:xfrm>
            <a:off x="781050" y="5314950"/>
            <a:ext cx="2190750" cy="2095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Knightsbridge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4A67229-55EB-4C96-B64A-3A51EB572E60}"/>
              </a:ext>
            </a:extLst>
          </p:cNvPr>
          <p:cNvSpPr>
            <a:spLocks noGrp="1"/>
          </p:cNvSpPr>
          <p:nvPr/>
        </p:nvSpPr>
        <p:spPr>
          <a:xfrm>
            <a:off x="3638550" y="5362575"/>
            <a:ext cx="301196" cy="14287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8E67C7-24CA-413D-8A53-7DD18D93962B}"/>
              </a:ext>
            </a:extLst>
          </p:cNvPr>
          <p:cNvSpPr>
            <a:spLocks noGrp="1"/>
          </p:cNvSpPr>
          <p:nvPr/>
        </p:nvSpPr>
        <p:spPr>
          <a:xfrm>
            <a:off x="4015946" y="5314950"/>
            <a:ext cx="704850" cy="1905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+29k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ABA4881-E0FF-43D1-B9AE-FDED3692DB96}"/>
              </a:ext>
            </a:extLst>
          </p:cNvPr>
          <p:cNvSpPr>
            <a:spLocks noGrp="1"/>
          </p:cNvSpPr>
          <p:nvPr/>
        </p:nvSpPr>
        <p:spPr>
          <a:xfrm>
            <a:off x="2381250" y="5219700"/>
            <a:ext cx="95250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EA4335"/>
                </a:solidFill>
                <a:latin typeface="Aptos"/>
                <a:ea typeface="Aptos"/>
                <a:cs typeface="Aptos"/>
              </a:defRPr>
            </a:pPr>
            <a:r>
              <a:t>More arrivals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F96D38-A1F0-4837-9831-24BE103DA285}"/>
              </a:ext>
            </a:extLst>
          </p:cNvPr>
          <p:cNvSpPr>
            <a:spLocks noGrp="1"/>
          </p:cNvSpPr>
          <p:nvPr/>
        </p:nvSpPr>
        <p:spPr>
          <a:xfrm>
            <a:off x="4895850" y="5219700"/>
            <a:ext cx="114300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285F4"/>
                </a:solidFill>
                <a:latin typeface="Aptos"/>
                <a:ea typeface="Aptos"/>
                <a:cs typeface="Aptos"/>
              </a:defRPr>
            </a:pPr>
            <a:r>
              <a:t>More departures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38DBF7E-AFF2-4DBB-A6AF-1D7F5B1A47F1}"/>
              </a:ext>
            </a:extLst>
          </p:cNvPr>
          <p:cNvSpPr>
            <a:spLocks noGrp="1"/>
          </p:cNvSpPr>
          <p:nvPr/>
        </p:nvSpPr>
        <p:spPr>
          <a:xfrm>
            <a:off x="7677150" y="2305050"/>
            <a:ext cx="31432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1F66BBE-0960-441A-AF34-DC05FB051C9C}"/>
              </a:ext>
            </a:extLst>
          </p:cNvPr>
          <p:cNvSpPr>
            <a:spLocks noGrp="1"/>
          </p:cNvSpPr>
          <p:nvPr/>
        </p:nvSpPr>
        <p:spPr>
          <a:xfrm>
            <a:off x="7924800" y="2533650"/>
            <a:ext cx="209550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285F4"/>
                </a:solidFill>
                <a:latin typeface="Aptos"/>
                <a:ea typeface="Aptos"/>
                <a:cs typeface="Aptos"/>
              </a:defRPr>
            </a:pPr>
            <a:r>
              <a:t>Departure pressure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1F9C780-FBD7-4C2C-A029-635D523B7A51}"/>
              </a:ext>
            </a:extLst>
          </p:cNvPr>
          <p:cNvSpPr>
            <a:spLocks noGrp="1"/>
          </p:cNvSpPr>
          <p:nvPr/>
        </p:nvSpPr>
        <p:spPr>
          <a:xfrm>
            <a:off x="7924800" y="2895600"/>
            <a:ext cx="2381250" cy="4953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Waterloo Station 2 +67,864 net departures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031C2BC-ABA2-40C9-92BB-63F5C7103BFF}"/>
              </a:ext>
            </a:extLst>
          </p:cNvPr>
          <p:cNvSpPr>
            <a:spLocks noGrp="1"/>
          </p:cNvSpPr>
          <p:nvPr/>
        </p:nvSpPr>
        <p:spPr>
          <a:xfrm>
            <a:off x="7677150" y="3829050"/>
            <a:ext cx="31432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4695D5C-B886-45AE-9CDA-4FD658B17033}"/>
              </a:ext>
            </a:extLst>
          </p:cNvPr>
          <p:cNvSpPr>
            <a:spLocks noGrp="1"/>
          </p:cNvSpPr>
          <p:nvPr/>
        </p:nvSpPr>
        <p:spPr>
          <a:xfrm>
            <a:off x="7924800" y="4057650"/>
            <a:ext cx="209550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A4335"/>
                </a:solidFill>
                <a:latin typeface="Aptos"/>
                <a:ea typeface="Aptos"/>
                <a:cs typeface="Aptos"/>
              </a:defRPr>
            </a:pPr>
            <a:r>
              <a:t>Arrival pressure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D0D4F14-5F76-4214-96C9-62A4CBB7E529}"/>
              </a:ext>
            </a:extLst>
          </p:cNvPr>
          <p:cNvSpPr>
            <a:spLocks noGrp="1"/>
          </p:cNvSpPr>
          <p:nvPr/>
        </p:nvSpPr>
        <p:spPr>
          <a:xfrm>
            <a:off x="7924800" y="4419600"/>
            <a:ext cx="2381250" cy="4953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Hop Exchange -127,481 net departures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7EB1996-DA71-49B5-AB81-EA97835C9C49}"/>
              </a:ext>
            </a:extLst>
          </p:cNvPr>
          <p:cNvSpPr>
            <a:spLocks noGrp="1"/>
          </p:cNvSpPr>
          <p:nvPr/>
        </p:nvSpPr>
        <p:spPr>
          <a:xfrm>
            <a:off x="457200" y="6343650"/>
            <a:ext cx="857250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Aptos"/>
                <a:ea typeface="Aptos"/>
                <a:cs typeface="Aptos"/>
              </a:defRPr>
            </a:pPr>
            <a:r>
              <a:t>Source: mart_station_activity net_departure_count.</a:t>
            </a:r>
          </a:p>
        </p:txBody>
      </p:sp>
    </p:spTree>
    <p:extLst>
      <p:ext uri="{BB962C8B-B14F-4D97-AF65-F5344CB8AC3E}">
        <p14:creationId xmlns:p14="http://schemas.microsoft.com/office/powerpoint/2010/main" val="1208799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1DD7E2C-BE45-4684-A5DE-99AEAF1933E8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85725" cy="857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B73C31-9F0B-4F41-9F51-B6DB074FA789}"/>
              </a:ext>
            </a:extLst>
          </p:cNvPr>
          <p:cNvSpPr>
            <a:spLocks noGrp="1"/>
          </p:cNvSpPr>
          <p:nvPr/>
        </p:nvSpPr>
        <p:spPr>
          <a:xfrm>
            <a:off x="628650" y="295275"/>
            <a:ext cx="3429000" cy="22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dirty="0"/>
              <a:t>RECOMMENDATIONS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0225E9-0CC5-43C1-90FA-971050F18BF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5D16EB-900E-450B-9155-55CC281939DA}"/>
              </a:ext>
            </a:extLst>
          </p:cNvPr>
          <p:cNvSpPr>
            <a:spLocks noGrp="1"/>
          </p:cNvSpPr>
          <p:nvPr/>
        </p:nvSpPr>
        <p:spPr>
          <a:xfrm>
            <a:off x="457200" y="6248400"/>
            <a:ext cx="10839450" cy="9525"/>
          </a:xfrm>
          <a:prstGeom prst="rect">
            <a:avLst/>
          </a:prstGeom>
          <a:solidFill>
            <a:srgbClr val="E8E3DA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481F4B-3B47-409D-BD3C-64F20D971787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7810500" cy="8763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The operating response is rebalancing, peak coverage, and better context.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27F676-01A3-4A06-A9CF-B2DBF37329A9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7905750" cy="4572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The first pass already supports concrete actions, while future data can explain why demand shifts happen.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731813-78E6-4D1C-B9DC-B4B653D35409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9715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A9AAAE-3AD3-4872-8890-3540BE496DC2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76200" cy="590550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E4A3CB-3D9A-4772-9DF5-FA008753F6F3}"/>
              </a:ext>
            </a:extLst>
          </p:cNvPr>
          <p:cNvSpPr>
            <a:spLocks noGrp="1"/>
          </p:cNvSpPr>
          <p:nvPr/>
        </p:nvSpPr>
        <p:spPr>
          <a:xfrm>
            <a:off x="1123950" y="2543175"/>
            <a:ext cx="200025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Rebalance bikes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633BCA-1978-4862-99F4-94C2CA1E1155}"/>
              </a:ext>
            </a:extLst>
          </p:cNvPr>
          <p:cNvSpPr>
            <a:spLocks noGrp="1"/>
          </p:cNvSpPr>
          <p:nvPr/>
        </p:nvSpPr>
        <p:spPr>
          <a:xfrm>
            <a:off x="3333750" y="2524125"/>
            <a:ext cx="6572250" cy="2667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Prioritize high positive net-departure stations, starting with Waterloo Station 2.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9DC513-27E2-4578-AFF5-A2ACA3286E32}"/>
              </a:ext>
            </a:extLst>
          </p:cNvPr>
          <p:cNvSpPr>
            <a:spLocks noGrp="1"/>
          </p:cNvSpPr>
          <p:nvPr/>
        </p:nvSpPr>
        <p:spPr>
          <a:xfrm>
            <a:off x="819150" y="3181350"/>
            <a:ext cx="9715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4CD91B-ACCD-4537-8E23-D1A19E6B8991}"/>
              </a:ext>
            </a:extLst>
          </p:cNvPr>
          <p:cNvSpPr>
            <a:spLocks noGrp="1"/>
          </p:cNvSpPr>
          <p:nvPr/>
        </p:nvSpPr>
        <p:spPr>
          <a:xfrm>
            <a:off x="819150" y="3181350"/>
            <a:ext cx="76200" cy="590550"/>
          </a:xfrm>
          <a:prstGeom prst="rect">
            <a:avLst/>
          </a:prstGeom>
          <a:solidFill>
            <a:srgbClr val="EA4335"/>
          </a:solidFill>
          <a:ln w="9525">
            <a:solidFill>
              <a:srgbClr val="EA433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4FCD41-985C-48EC-8968-2686D463B77E}"/>
              </a:ext>
            </a:extLst>
          </p:cNvPr>
          <p:cNvSpPr>
            <a:spLocks noGrp="1"/>
          </p:cNvSpPr>
          <p:nvPr/>
        </p:nvSpPr>
        <p:spPr>
          <a:xfrm>
            <a:off x="1123950" y="3343275"/>
            <a:ext cx="200025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Protect docks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3C4CFE-503E-4FFB-B166-189A0C0A55DE}"/>
              </a:ext>
            </a:extLst>
          </p:cNvPr>
          <p:cNvSpPr>
            <a:spLocks noGrp="1"/>
          </p:cNvSpPr>
          <p:nvPr/>
        </p:nvSpPr>
        <p:spPr>
          <a:xfrm>
            <a:off x="3333750" y="3324225"/>
            <a:ext cx="6572250" cy="2667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Monitor high negative net-departure stations, especially Hop Exchange.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21115C-A64C-43CF-B9AD-E1809007B6C0}"/>
              </a:ext>
            </a:extLst>
          </p:cNvPr>
          <p:cNvSpPr>
            <a:spLocks noGrp="1"/>
          </p:cNvSpPr>
          <p:nvPr/>
        </p:nvSpPr>
        <p:spPr>
          <a:xfrm>
            <a:off x="819150" y="3981450"/>
            <a:ext cx="9715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1042B9-0A01-4F5B-9DEE-A3E4298CD30A}"/>
              </a:ext>
            </a:extLst>
          </p:cNvPr>
          <p:cNvSpPr>
            <a:spLocks noGrp="1"/>
          </p:cNvSpPr>
          <p:nvPr/>
        </p:nvSpPr>
        <p:spPr>
          <a:xfrm>
            <a:off x="819150" y="3981450"/>
            <a:ext cx="76200" cy="590550"/>
          </a:xfrm>
          <a:prstGeom prst="rect">
            <a:avLst/>
          </a:prstGeom>
          <a:solidFill>
            <a:srgbClr val="34A853"/>
          </a:solidFill>
          <a:ln w="9525">
            <a:solidFill>
              <a:srgbClr val="34A853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EF67C7-C086-4AB5-B722-13FFDCF7CEEF}"/>
              </a:ext>
            </a:extLst>
          </p:cNvPr>
          <p:cNvSpPr>
            <a:spLocks noGrp="1"/>
          </p:cNvSpPr>
          <p:nvPr/>
        </p:nvSpPr>
        <p:spPr>
          <a:xfrm>
            <a:off x="1123950" y="4143375"/>
            <a:ext cx="200025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Cover peaks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A5DDDC-B331-45B8-B50E-4B3005F7C1DA}"/>
              </a:ext>
            </a:extLst>
          </p:cNvPr>
          <p:cNvSpPr>
            <a:spLocks noGrp="1"/>
          </p:cNvSpPr>
          <p:nvPr/>
        </p:nvSpPr>
        <p:spPr>
          <a:xfrm>
            <a:off x="3333750" y="4124325"/>
            <a:ext cx="6572250" cy="2667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Align operations around the 16:00-19:00 evening commute window.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7DB3BB-6D39-4D1D-A327-8EB1E9CD4EB0}"/>
              </a:ext>
            </a:extLst>
          </p:cNvPr>
          <p:cNvSpPr>
            <a:spLocks noGrp="1"/>
          </p:cNvSpPr>
          <p:nvPr/>
        </p:nvSpPr>
        <p:spPr>
          <a:xfrm>
            <a:off x="819150" y="4781550"/>
            <a:ext cx="9715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CA4E9D-1B94-4894-9AA3-613473978300}"/>
              </a:ext>
            </a:extLst>
          </p:cNvPr>
          <p:cNvSpPr>
            <a:spLocks noGrp="1"/>
          </p:cNvSpPr>
          <p:nvPr/>
        </p:nvSpPr>
        <p:spPr>
          <a:xfrm>
            <a:off x="819150" y="4781550"/>
            <a:ext cx="76200" cy="590550"/>
          </a:xfrm>
          <a:prstGeom prst="rect">
            <a:avLst/>
          </a:prstGeom>
          <a:solidFill>
            <a:srgbClr val="FBBC05"/>
          </a:solidFill>
          <a:ln w="9525">
            <a:solidFill>
              <a:srgbClr val="FBBC0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7153A4-7A7E-45F1-B296-28BFF626BD80}"/>
              </a:ext>
            </a:extLst>
          </p:cNvPr>
          <p:cNvSpPr>
            <a:spLocks noGrp="1"/>
          </p:cNvSpPr>
          <p:nvPr/>
        </p:nvSpPr>
        <p:spPr>
          <a:xfrm>
            <a:off x="1123950" y="4943475"/>
            <a:ext cx="200025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Add context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E0ED41-8786-4335-99DA-90BC439C715D}"/>
              </a:ext>
            </a:extLst>
          </p:cNvPr>
          <p:cNvSpPr>
            <a:spLocks noGrp="1"/>
          </p:cNvSpPr>
          <p:nvPr/>
        </p:nvSpPr>
        <p:spPr>
          <a:xfrm>
            <a:off x="3333750" y="4924425"/>
            <a:ext cx="6572250" cy="2667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Bring in weather, holidays, and events to explain spikes and improve forecasting.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E657D0-B570-467F-9051-ADE0F7E3DC86}"/>
              </a:ext>
            </a:extLst>
          </p:cNvPr>
          <p:cNvSpPr>
            <a:spLocks noGrp="1"/>
          </p:cNvSpPr>
          <p:nvPr/>
        </p:nvSpPr>
        <p:spPr>
          <a:xfrm>
            <a:off x="457200" y="6343650"/>
            <a:ext cx="857250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Aptos"/>
                <a:ea typeface="Aptos"/>
                <a:cs typeface="Aptos"/>
              </a:defRPr>
            </a:pPr>
            <a:r>
              <a:t>Source: analysis findings and station imbalance marts.</a:t>
            </a:r>
          </a:p>
        </p:txBody>
      </p:sp>
    </p:spTree>
    <p:extLst>
      <p:ext uri="{BB962C8B-B14F-4D97-AF65-F5344CB8AC3E}">
        <p14:creationId xmlns:p14="http://schemas.microsoft.com/office/powerpoint/2010/main" val="1410941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3B5601D-31EC-4F44-86F6-B046769E9B48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85725" cy="857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A94790-E0EE-42B0-894D-4F87F809CF8A}"/>
              </a:ext>
            </a:extLst>
          </p:cNvPr>
          <p:cNvSpPr>
            <a:spLocks noGrp="1"/>
          </p:cNvSpPr>
          <p:nvPr/>
        </p:nvSpPr>
        <p:spPr>
          <a:xfrm>
            <a:off x="628650" y="295275"/>
            <a:ext cx="3429000" cy="22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NEXT STEPS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3E8A1C-BA69-499F-9679-077D0C110D51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6D943-18D1-4F82-9398-E119165D2358}"/>
              </a:ext>
            </a:extLst>
          </p:cNvPr>
          <p:cNvSpPr>
            <a:spLocks noGrp="1"/>
          </p:cNvSpPr>
          <p:nvPr/>
        </p:nvSpPr>
        <p:spPr>
          <a:xfrm>
            <a:off x="457200" y="6248400"/>
            <a:ext cx="10839450" cy="9525"/>
          </a:xfrm>
          <a:prstGeom prst="rect">
            <a:avLst/>
          </a:prstGeom>
          <a:solidFill>
            <a:srgbClr val="E8E3DA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F02194-A7BC-4C1D-BBC6-5638D8A732C0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7810500" cy="8763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Next pass moves from analytics proof to repeatable decision product.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8B093F-BADD-4C59-9A46-DCB2A7B557EC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8001000" cy="4572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The foundation is working; the next layer adds automation, dashboarding, and richer explanatory data.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115D30-1009-4F44-A187-3EA77A7D81CA}"/>
              </a:ext>
            </a:extLst>
          </p:cNvPr>
          <p:cNvSpPr>
            <a:spLocks noGrp="1"/>
          </p:cNvSpPr>
          <p:nvPr/>
        </p:nvSpPr>
        <p:spPr>
          <a:xfrm>
            <a:off x="914400" y="2724150"/>
            <a:ext cx="180975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56D1F1-4AB0-4A61-99BD-9C41DEB84FC4}"/>
              </a:ext>
            </a:extLst>
          </p:cNvPr>
          <p:cNvSpPr>
            <a:spLocks noGrp="1"/>
          </p:cNvSpPr>
          <p:nvPr/>
        </p:nvSpPr>
        <p:spPr>
          <a:xfrm>
            <a:off x="1085850" y="2990850"/>
            <a:ext cx="1428750" cy="2476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4285F4"/>
                </a:solidFill>
                <a:latin typeface="Aptos"/>
                <a:ea typeface="Aptos"/>
                <a:cs typeface="Aptos"/>
              </a:defRPr>
            </a:pPr>
            <a:r>
              <a:t>1. Validate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437E45-5F1A-44C0-B87F-1EFEA6BDCD0B}"/>
              </a:ext>
            </a:extLst>
          </p:cNvPr>
          <p:cNvSpPr>
            <a:spLocks noGrp="1"/>
          </p:cNvSpPr>
          <p:nvPr/>
        </p:nvSpPr>
        <p:spPr>
          <a:xfrm>
            <a:off x="1085850" y="3409950"/>
            <a:ext cx="1390650" cy="5143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Review findings and business framing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96585F-32BC-4D79-8D60-FEFE3EF2023C}"/>
              </a:ext>
            </a:extLst>
          </p:cNvPr>
          <p:cNvSpPr>
            <a:spLocks noGrp="1"/>
          </p:cNvSpPr>
          <p:nvPr/>
        </p:nvSpPr>
        <p:spPr>
          <a:xfrm>
            <a:off x="2800350" y="3457575"/>
            <a:ext cx="400050" cy="19050"/>
          </a:xfrm>
          <a:prstGeom prst="rect">
            <a:avLst/>
          </a:prstGeom>
          <a:solidFill>
            <a:srgbClr val="667085"/>
          </a:solidFill>
          <a:ln w="9525">
            <a:solidFill>
              <a:srgbClr val="66708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E5CCB5-6B23-482C-B3E7-6E5191644FA1}"/>
              </a:ext>
            </a:extLst>
          </p:cNvPr>
          <p:cNvSpPr>
            <a:spLocks noGrp="1"/>
          </p:cNvSpPr>
          <p:nvPr/>
        </p:nvSpPr>
        <p:spPr>
          <a:xfrm>
            <a:off x="3105150" y="3343275"/>
            <a:ext cx="19050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4E0CD6-2499-4416-873D-10F83FC266C6}"/>
              </a:ext>
            </a:extLst>
          </p:cNvPr>
          <p:cNvSpPr>
            <a:spLocks noGrp="1"/>
          </p:cNvSpPr>
          <p:nvPr/>
        </p:nvSpPr>
        <p:spPr>
          <a:xfrm>
            <a:off x="3286125" y="2724150"/>
            <a:ext cx="180975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E6EA47-1ED0-4243-AD88-981EF2BF5B11}"/>
              </a:ext>
            </a:extLst>
          </p:cNvPr>
          <p:cNvSpPr>
            <a:spLocks noGrp="1"/>
          </p:cNvSpPr>
          <p:nvPr/>
        </p:nvSpPr>
        <p:spPr>
          <a:xfrm>
            <a:off x="3457575" y="2990850"/>
            <a:ext cx="1428750" cy="2476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4A853"/>
                </a:solidFill>
                <a:latin typeface="Aptos"/>
                <a:ea typeface="Aptos"/>
                <a:cs typeface="Aptos"/>
              </a:defRPr>
            </a:pPr>
            <a:r>
              <a:t>2. Dashboard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2994D1-1068-4FF8-8C47-599A3C6F432B}"/>
              </a:ext>
            </a:extLst>
          </p:cNvPr>
          <p:cNvSpPr>
            <a:spLocks noGrp="1"/>
          </p:cNvSpPr>
          <p:nvPr/>
        </p:nvSpPr>
        <p:spPr>
          <a:xfrm>
            <a:off x="3457575" y="3409950"/>
            <a:ext cx="1390650" cy="5143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Publish Looker Studio or BI views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123ED4-5213-4058-A6F4-636A4D5C9B79}"/>
              </a:ext>
            </a:extLst>
          </p:cNvPr>
          <p:cNvSpPr>
            <a:spLocks noGrp="1"/>
          </p:cNvSpPr>
          <p:nvPr/>
        </p:nvSpPr>
        <p:spPr>
          <a:xfrm>
            <a:off x="5172075" y="3457575"/>
            <a:ext cx="400050" cy="19050"/>
          </a:xfrm>
          <a:prstGeom prst="rect">
            <a:avLst/>
          </a:prstGeom>
          <a:solidFill>
            <a:srgbClr val="667085"/>
          </a:solidFill>
          <a:ln w="9525">
            <a:solidFill>
              <a:srgbClr val="66708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B6E1D0-D33C-49B4-90B3-E4F6C3BDBF98}"/>
              </a:ext>
            </a:extLst>
          </p:cNvPr>
          <p:cNvSpPr>
            <a:spLocks noGrp="1"/>
          </p:cNvSpPr>
          <p:nvPr/>
        </p:nvSpPr>
        <p:spPr>
          <a:xfrm>
            <a:off x="5476875" y="3343275"/>
            <a:ext cx="19050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899EA1-566E-4D6B-A923-DC2BCEF970F3}"/>
              </a:ext>
            </a:extLst>
          </p:cNvPr>
          <p:cNvSpPr>
            <a:spLocks noGrp="1"/>
          </p:cNvSpPr>
          <p:nvPr/>
        </p:nvSpPr>
        <p:spPr>
          <a:xfrm>
            <a:off x="5657850" y="2724150"/>
            <a:ext cx="180975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38D321-8B12-440F-AF57-53308C3A29CA}"/>
              </a:ext>
            </a:extLst>
          </p:cNvPr>
          <p:cNvSpPr>
            <a:spLocks noGrp="1"/>
          </p:cNvSpPr>
          <p:nvPr/>
        </p:nvSpPr>
        <p:spPr>
          <a:xfrm>
            <a:off x="5829300" y="2990850"/>
            <a:ext cx="1428750" cy="2476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BBC05"/>
                </a:solidFill>
                <a:latin typeface="Aptos"/>
                <a:ea typeface="Aptos"/>
                <a:cs typeface="Aptos"/>
              </a:defRPr>
            </a:pPr>
            <a:r>
              <a:t>3. Orchestrate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A216AD-673F-441C-BAA4-0EA2EF8CCD14}"/>
              </a:ext>
            </a:extLst>
          </p:cNvPr>
          <p:cNvSpPr>
            <a:spLocks noGrp="1"/>
          </p:cNvSpPr>
          <p:nvPr/>
        </p:nvSpPr>
        <p:spPr>
          <a:xfrm>
            <a:off x="5829300" y="3409950"/>
            <a:ext cx="1390650" cy="5143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Schedule dbt tests and refreshes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4CD76A-6B55-40FC-ACB7-8476348F2089}"/>
              </a:ext>
            </a:extLst>
          </p:cNvPr>
          <p:cNvSpPr>
            <a:spLocks noGrp="1"/>
          </p:cNvSpPr>
          <p:nvPr/>
        </p:nvSpPr>
        <p:spPr>
          <a:xfrm>
            <a:off x="7543800" y="3457575"/>
            <a:ext cx="400050" cy="19050"/>
          </a:xfrm>
          <a:prstGeom prst="rect">
            <a:avLst/>
          </a:prstGeom>
          <a:solidFill>
            <a:srgbClr val="667085"/>
          </a:solidFill>
          <a:ln w="9525">
            <a:solidFill>
              <a:srgbClr val="667085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F6085E-35F2-461C-BEA5-8DAC3BCF092B}"/>
              </a:ext>
            </a:extLst>
          </p:cNvPr>
          <p:cNvSpPr>
            <a:spLocks noGrp="1"/>
          </p:cNvSpPr>
          <p:nvPr/>
        </p:nvSpPr>
        <p:spPr>
          <a:xfrm>
            <a:off x="7848600" y="3343275"/>
            <a:ext cx="190500" cy="228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04112B-703C-45B7-8A18-3617ECC29727}"/>
              </a:ext>
            </a:extLst>
          </p:cNvPr>
          <p:cNvSpPr>
            <a:spLocks noGrp="1"/>
          </p:cNvSpPr>
          <p:nvPr/>
        </p:nvSpPr>
        <p:spPr>
          <a:xfrm>
            <a:off x="8029575" y="2724150"/>
            <a:ext cx="180975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A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26DF63-5D26-4DE6-B069-60C29809F5E9}"/>
              </a:ext>
            </a:extLst>
          </p:cNvPr>
          <p:cNvSpPr>
            <a:spLocks noGrp="1"/>
          </p:cNvSpPr>
          <p:nvPr/>
        </p:nvSpPr>
        <p:spPr>
          <a:xfrm>
            <a:off x="8201025" y="2990850"/>
            <a:ext cx="1428750" cy="2476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EA4335"/>
                </a:solidFill>
                <a:latin typeface="Aptos"/>
                <a:ea typeface="Aptos"/>
                <a:cs typeface="Aptos"/>
              </a:defRPr>
            </a:pPr>
            <a:r>
              <a:t>4. Enrich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F3128F-C346-4AFF-A5A4-27BD2C00E436}"/>
              </a:ext>
            </a:extLst>
          </p:cNvPr>
          <p:cNvSpPr>
            <a:spLocks noGrp="1"/>
          </p:cNvSpPr>
          <p:nvPr/>
        </p:nvSpPr>
        <p:spPr>
          <a:xfrm>
            <a:off x="8201025" y="3409950"/>
            <a:ext cx="1390650" cy="5143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t>Add weather, holidays, events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1586C4-9143-4D04-9395-7E62E8EC3F14}"/>
              </a:ext>
            </a:extLst>
          </p:cNvPr>
          <p:cNvSpPr>
            <a:spLocks noGrp="1"/>
          </p:cNvSpPr>
          <p:nvPr/>
        </p:nvSpPr>
        <p:spPr>
          <a:xfrm>
            <a:off x="1581150" y="4819649"/>
            <a:ext cx="8143875" cy="866775"/>
          </a:xfrm>
          <a:prstGeom prst="rect">
            <a:avLst/>
          </a:prstGeom>
          <a:solidFill>
            <a:srgbClr val="18212B"/>
          </a:solidFill>
          <a:ln w="9525">
            <a:solidFill>
              <a:srgbClr val="18212B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F6C207-97C7-40BF-88F4-FBC60957E05E}"/>
              </a:ext>
            </a:extLst>
          </p:cNvPr>
          <p:cNvSpPr>
            <a:spLocks noGrp="1"/>
          </p:cNvSpPr>
          <p:nvPr/>
        </p:nvSpPr>
        <p:spPr>
          <a:xfrm>
            <a:off x="1866900" y="5010150"/>
            <a:ext cx="7524750" cy="2667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dirty="0"/>
              <a:t>Bottom line: the pipeline is built, tested, and already producing operationally useful signals.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B3E14A-F12D-4FC1-9F68-53A1850140A2}"/>
              </a:ext>
            </a:extLst>
          </p:cNvPr>
          <p:cNvSpPr>
            <a:spLocks noGrp="1"/>
          </p:cNvSpPr>
          <p:nvPr/>
        </p:nvSpPr>
        <p:spPr>
          <a:xfrm>
            <a:off x="457200" y="6343650"/>
            <a:ext cx="8572500" cy="171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Aptos"/>
                <a:ea typeface="Aptos"/>
                <a:cs typeface="Aptos"/>
              </a:defRPr>
            </a:pPr>
            <a:r>
              <a:t>Prepared for 10-minute executive presentation plus Q&amp;A.</a:t>
            </a:r>
          </a:p>
        </p:txBody>
      </p:sp>
    </p:spTree>
    <p:extLst>
      <p:ext uri="{BB962C8B-B14F-4D97-AF65-F5344CB8AC3E}">
        <p14:creationId xmlns:p14="http://schemas.microsoft.com/office/powerpoint/2010/main" val="16515543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945</Words>
  <Application>Microsoft Office PowerPoint</Application>
  <DocSecurity>0</DocSecurity>
  <PresentationFormat>Widescreen</PresentationFormat>
  <Paragraphs>205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Teofilo Santiago IV</cp:lastModifiedBy>
  <cp:revision>2</cp:revision>
  <dcterms:created xsi:type="dcterms:W3CDTF">2026-05-31T04:36:50Z</dcterms:created>
  <dcterms:modified xsi:type="dcterms:W3CDTF">2026-06-01T12:38:05Z</dcterms:modified>
</cp:coreProperties>
</file>