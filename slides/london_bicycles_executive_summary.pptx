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b1c9c62c9144e5d" /><Relationship Type="http://schemas.openxmlformats.org/officeDocument/2006/relationships/extended-properties" Target="/docProps/app.xml" Id="Rda447afb13004f36" /><Relationship Type="http://schemas.openxmlformats.org/officeDocument/2006/relationships/officeDocument" Target="/ppt/presentation.xml" Id="R05196d2d1904492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e59acdfe6d94fa7"/>
  </p:sldMasterIdLst>
  <p:notesMasterIdLst>
    <p:notesMasterId xmlns:r="http://schemas.openxmlformats.org/officeDocument/2006/relationships" r:id="R7d7330f326554e55"/>
  </p:notesMasterIdLst>
  <p:sldIdLst>
    <p:sldId xmlns:r="http://schemas.openxmlformats.org/officeDocument/2006/relationships" id="256" r:id="Rb59e1e182aa048ec"/>
    <p:sldId xmlns:r="http://schemas.openxmlformats.org/officeDocument/2006/relationships" id="257" r:id="Rc0cfea079ac44fd6"/>
    <p:sldId xmlns:r="http://schemas.openxmlformats.org/officeDocument/2006/relationships" id="258" r:id="R3d59890431b84a21"/>
    <p:sldId xmlns:r="http://schemas.openxmlformats.org/officeDocument/2006/relationships" id="259" r:id="Rdfe4fc0fd5e04d6c"/>
    <p:sldId xmlns:r="http://schemas.openxmlformats.org/officeDocument/2006/relationships" id="260" r:id="Rc90ad1272e1f42eb"/>
    <p:sldId xmlns:r="http://schemas.openxmlformats.org/officeDocument/2006/relationships" id="261" r:id="Rf05a844be14b4a35"/>
    <p:sldId xmlns:r="http://schemas.openxmlformats.org/officeDocument/2006/relationships" id="262" r:id="Rcdc1a63ef7d24f70"/>
    <p:sldId xmlns:r="http://schemas.openxmlformats.org/officeDocument/2006/relationships" id="263" r:id="R3b0ad9a254fd4082"/>
    <p:sldId xmlns:r="http://schemas.openxmlformats.org/officeDocument/2006/relationships" id="264" r:id="Rdac71f2a0fd84979"/>
    <p:sldId xmlns:r="http://schemas.openxmlformats.org/officeDocument/2006/relationships" id="265" r:id="R16824c621f59435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59acdfe6d94fa7" /><Relationship Type="http://schemas.openxmlformats.org/officeDocument/2006/relationships/theme" Target="/ppt/theme/theme1.xml" Id="R572dd78717bb4996" /><Relationship Type="http://schemas.openxmlformats.org/officeDocument/2006/relationships/notesMaster" Target="/ppt/notesMasters/notesMaster1.xml" Id="R7d7330f326554e55" /><Relationship Type="http://schemas.openxmlformats.org/officeDocument/2006/relationships/presProps" Target="/ppt/presProps.xml" Id="R892c3eeb435c4b0c" /><Relationship Type="http://schemas.openxmlformats.org/officeDocument/2006/relationships/viewProps" Target="/ppt/viewProps.xml" Id="R6675914d9cfa4e3e" /><Relationship Type="http://schemas.openxmlformats.org/officeDocument/2006/relationships/tableStyles" Target="/ppt/tableStyles.xml" Id="Rc7435969242745e9" /><Relationship Type="http://schemas.openxmlformats.org/officeDocument/2006/relationships/slide" Target="/ppt/slides/slide1.xml" Id="Rb59e1e182aa048ec" /><Relationship Type="http://schemas.openxmlformats.org/officeDocument/2006/relationships/slide" Target="/ppt/slides/slide2.xml" Id="Rc0cfea079ac44fd6" /><Relationship Type="http://schemas.openxmlformats.org/officeDocument/2006/relationships/slide" Target="/ppt/slides/slide3.xml" Id="R3d59890431b84a21" /><Relationship Type="http://schemas.openxmlformats.org/officeDocument/2006/relationships/slide" Target="/ppt/slides/slide4.xml" Id="Rdfe4fc0fd5e04d6c" /><Relationship Type="http://schemas.openxmlformats.org/officeDocument/2006/relationships/slide" Target="/ppt/slides/slide5.xml" Id="Rc90ad1272e1f42eb" /><Relationship Type="http://schemas.openxmlformats.org/officeDocument/2006/relationships/slide" Target="/ppt/slides/slide6.xml" Id="Rf05a844be14b4a35" /><Relationship Type="http://schemas.openxmlformats.org/officeDocument/2006/relationships/slide" Target="/ppt/slides/slide7.xml" Id="Rcdc1a63ef7d24f70" /><Relationship Type="http://schemas.openxmlformats.org/officeDocument/2006/relationships/slide" Target="/ppt/slides/slide8.xml" Id="R3b0ad9a254fd4082" /><Relationship Type="http://schemas.openxmlformats.org/officeDocument/2006/relationships/slide" Target="/ppt/slides/slide9.xml" Id="Rdac71f2a0fd84979" /><Relationship Type="http://schemas.openxmlformats.org/officeDocument/2006/relationships/slide" Target="/ppt/slides/slide10.xml" Id="R16824c621f59435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425c56ba3960450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b9fe2d5f18f4e76" /><Relationship Type="http://schemas.openxmlformats.org/officeDocument/2006/relationships/notesMaster" Target="/ppt/notesMasters/notesMaster1.xml" Id="Rf0061173463e4bd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a0d783185e740ab" /><Relationship Type="http://schemas.openxmlformats.org/officeDocument/2006/relationships/notesMaster" Target="/ppt/notesMasters/notesMaster1.xml" Id="R7d2cfbaf56cd4b2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5af5b990d044c90" /><Relationship Type="http://schemas.openxmlformats.org/officeDocument/2006/relationships/notesMaster" Target="/ppt/notesMasters/notesMaster1.xml" Id="Rc0e432fb9a454a8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12c22fff68f4991" /><Relationship Type="http://schemas.openxmlformats.org/officeDocument/2006/relationships/notesMaster" Target="/ppt/notesMasters/notesMaster1.xml" Id="R3f427d328e8b4a9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b6f0e704c0648db" /><Relationship Type="http://schemas.openxmlformats.org/officeDocument/2006/relationships/notesMaster" Target="/ppt/notesMasters/notesMaster1.xml" Id="R0ac32f3abcb24ba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7968eeb7c874160" /><Relationship Type="http://schemas.openxmlformats.org/officeDocument/2006/relationships/notesMaster" Target="/ppt/notesMasters/notesMaster1.xml" Id="R449fd24869e842d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84fd0cc4c7447aa" /><Relationship Type="http://schemas.openxmlformats.org/officeDocument/2006/relationships/notesMaster" Target="/ppt/notesMasters/notesMaster1.xml" Id="R75cd298e19ac405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04e739114b042a2" /><Relationship Type="http://schemas.openxmlformats.org/officeDocument/2006/relationships/notesMaster" Target="/ppt/notesMasters/notesMaster1.xml" Id="R4f1c037d20df49f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1016907c5a54612" /><Relationship Type="http://schemas.openxmlformats.org/officeDocument/2006/relationships/notesMaster" Target="/ppt/notesMasters/notesMaster1.xml" Id="Rb33ee5f6587e485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f53b89a11d34a08" /><Relationship Type="http://schemas.openxmlformats.org/officeDocument/2006/relationships/notesMaster" Target="/ppt/notesMasters/notesMaster1.xml" Id="Ra7119bc0910a492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57708778c34b02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28eb1acc79014d18" /><Relationship Type="http://schemas.openxmlformats.org/officeDocument/2006/relationships/slideLayout" Target="/ppt/slideLayouts/slideLayout2.xml" Id="R892db2a80bac41f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92db2a80bac41f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c65d05b7f8542c4" /><Relationship Type="http://schemas.openxmlformats.org/officeDocument/2006/relationships/notesSlide" Target="/ppt/notesSlides/notesSlide1.xml" Id="R74e6da6dac5d47f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da6477e2f2645d6" /><Relationship Type="http://schemas.openxmlformats.org/officeDocument/2006/relationships/notesSlide" Target="/ppt/notesSlides/notesSlide2.xml" Id="R9462066a3cc04b5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5c5002619fc4940" /><Relationship Type="http://schemas.openxmlformats.org/officeDocument/2006/relationships/notesSlide" Target="/ppt/notesSlides/notesSlide3.xml" Id="R60d2ac99993249f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44a5f7bfb9d4143" /><Relationship Type="http://schemas.openxmlformats.org/officeDocument/2006/relationships/notesSlide" Target="/ppt/notesSlides/notesSlide4.xml" Id="R45010de8a3a24ea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ddd6fcc9a2b4dda" /><Relationship Type="http://schemas.openxmlformats.org/officeDocument/2006/relationships/notesSlide" Target="/ppt/notesSlides/notesSlide5.xml" Id="Ra42456d4abd0414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42b1cdff05b4bf7" /><Relationship Type="http://schemas.openxmlformats.org/officeDocument/2006/relationships/notesSlide" Target="/ppt/notesSlides/notesSlide6.xml" Id="Rd8d8b66514464ba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6411ea454634660" /><Relationship Type="http://schemas.openxmlformats.org/officeDocument/2006/relationships/notesSlide" Target="/ppt/notesSlides/notesSlide7.xml" Id="R1d7415e29de7408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17fe0b14cef4cdd" /><Relationship Type="http://schemas.openxmlformats.org/officeDocument/2006/relationships/notesSlide" Target="/ppt/notesSlides/notesSlide8.xml" Id="R5a6e55ce24bf4c4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2ab9858550d4232" /><Relationship Type="http://schemas.openxmlformats.org/officeDocument/2006/relationships/notesSlide" Target="/ppt/notesSlides/notesSlide9.xml" Id="Rcca7b6446ecc4e7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1da84acdb7542ad" /><Relationship Type="http://schemas.openxmlformats.org/officeDocument/2006/relationships/notesSlide" Target="/ppt/notesSlides/notesSlide10.xml" Id="Rb5183fdd30f44c6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4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D259E4D-86DB-4C31-A3CD-8B986A841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A39303-5233-402C-8DA5-606653818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5275"/>
            <a:ext cx="342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EXECUTIVE SUMMARY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3C9A92-A058-4315-8DC7-EE49815B8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436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6B0EDF-741B-4866-8379-ED4FB4F65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48400"/>
            <a:ext cx="10839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3DA"/>
          </a:solidFill>
          <a:ln xmlns:a="http://schemas.openxmlformats.org/drawingml/2006/main" w="9525">
            <a:solidFill>
              <a:srgbClr val="E8E3DA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D59CDF-1D5B-47C1-89D3-E0C21EBC2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23900"/>
            <a:ext cx="7810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A tested analytics pipeline turns 83M bike trips into operating signals.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DB9661-52CE-46D2-8039-2D04F8257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95450"/>
            <a:ext cx="74295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London Bicycles public data was transformed in BigQuery with dbt, tested for quality, and analyzed in Python for demand and rebalancing decisions.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38150D-77E4-4406-926F-957DF43CC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76550"/>
            <a:ext cx="17716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7DE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F1338C-5879-4224-8806-3E4ED3095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76550"/>
            <a:ext cx="17716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D599B7-027F-4E02-AB95-3821B1AEA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86100"/>
            <a:ext cx="15049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4285F4"/>
                </a:solidFill>
                <a:latin typeface="Aptos"/>
                <a:ea typeface="Aptos"/>
                <a:cs typeface="Aptos"/>
              </a:defRPr>
            </a:pPr>
            <a:r>
              <a:t>83.4M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24D2F7-5BD7-45F4-993A-2BE981B1D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48050"/>
            <a:ext cx="15049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valid trips analyzed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36946F-B67B-4B86-B37F-AB246F46C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76550"/>
            <a:ext cx="17716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7DE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77F789-EBA7-4171-94F0-CCDB5FB3D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76550"/>
            <a:ext cx="17716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4335"/>
          </a:solidFill>
          <a:ln xmlns:a="http://schemas.openxmlformats.org/drawingml/2006/main" w="9525">
            <a:solidFill>
              <a:srgbClr val="EA4335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B717AC-94B6-46AD-8A39-06D288863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86100"/>
            <a:ext cx="15049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EA4335"/>
                </a:solidFill>
                <a:latin typeface="Aptos"/>
                <a:ea typeface="Aptos"/>
                <a:cs typeface="Aptos"/>
              </a:defRPr>
            </a:pPr>
            <a:r>
              <a:t>17:00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8D2DEC-30C2-4BC9-9C7E-D4CFEBE83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448050"/>
            <a:ext cx="15049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peak start hour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63B20C-9893-4E8F-91FD-C0483D4BC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876550"/>
            <a:ext cx="1962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7DE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8646D4-9304-44B9-81EB-544222C77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876550"/>
            <a:ext cx="1962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A853"/>
          </a:solidFill>
          <a:ln xmlns:a="http://schemas.openxmlformats.org/drawingml/2006/main" w="9525">
            <a:solidFill>
              <a:srgbClr val="34A853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165CBB-5FFE-4C37-A568-4386D77CB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086100"/>
            <a:ext cx="16954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34A853"/>
                </a:solidFill>
                <a:latin typeface="Aptos"/>
                <a:ea typeface="Aptos"/>
                <a:cs typeface="Aptos"/>
              </a:defRPr>
            </a:pPr>
            <a:r>
              <a:t>1.31M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900B55-4E27-4218-A4FA-50ADAAF63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448050"/>
            <a:ext cx="16954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busiest station activity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1254A7-FF45-4B86-A088-3EB715D4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876550"/>
            <a:ext cx="1581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7DE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D8247B-E6BD-4D96-B313-02F548133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876550"/>
            <a:ext cx="1581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C05"/>
          </a:solidFill>
          <a:ln xmlns:a="http://schemas.openxmlformats.org/drawingml/2006/main" w="9525">
            <a:solidFill>
              <a:srgbClr val="FBBC05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132894-FD85-4045-B35A-4290FFBB9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086100"/>
            <a:ext cx="13144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BBC05"/>
                </a:solidFill>
                <a:latin typeface="Aptos"/>
                <a:ea typeface="Aptos"/>
                <a:cs typeface="Aptos"/>
              </a:defRPr>
            </a:pPr>
            <a:r>
              <a:t>0 errors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36AD23-DB2C-4D99-A081-54E0FBE71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448050"/>
            <a:ext cx="13144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dbt test result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6BCD5A-D860-4346-9907-8FB64BD1C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819150"/>
            <a:ext cx="247650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12B"/>
          </a:solidFill>
          <a:ln xmlns:a="http://schemas.openxmlformats.org/drawingml/2006/main" w="9525">
            <a:solidFill>
              <a:srgbClr val="18212B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B583E7-8466-403D-B478-A15764839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162050"/>
            <a:ext cx="1952625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FD3FF"/>
                </a:solidFill>
                <a:latin typeface="Aptos"/>
                <a:ea typeface="Aptos"/>
                <a:cs typeface="Aptos"/>
              </a:defRPr>
            </a:pPr>
            <a:r>
              <a:t>Main recommendation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E8228A-7A65-4320-BAEF-DD3AF77B7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562100"/>
            <a:ext cx="1962150" cy="1619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Prioritize bike rebalancing around Waterloo Station 2 and dock monitoring around Hop Exchange.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083E95-51A1-4E89-912C-DE351076F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619500"/>
            <a:ext cx="180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4505E"/>
          </a:solidFill>
          <a:ln xmlns:a="http://schemas.openxmlformats.org/drawingml/2006/main" w="9525">
            <a:solidFill>
              <a:srgbClr val="44505E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DFC4C9-534A-4F4F-ABDA-AFC1EC9EB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857625"/>
            <a:ext cx="195262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FD3FF"/>
                </a:solidFill>
                <a:latin typeface="Aptos"/>
                <a:ea typeface="Aptos"/>
                <a:cs typeface="Aptos"/>
              </a:defRPr>
            </a:pPr>
            <a:r>
              <a:t>Why it matters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5F3660B-B5D5-4043-8AAF-09243D8C7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171950"/>
            <a:ext cx="19621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E7EEF8"/>
                </a:solidFill>
                <a:latin typeface="Aptos"/>
                <a:ea typeface="Aptos"/>
                <a:cs typeface="Aptos"/>
              </a:defRPr>
            </a:pPr>
            <a:r>
              <a:t>The pattern is operationally actionable: departures and arrivals are not evenly balanced across stations.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12C243-C6E8-4CAA-803B-048701BF7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43650"/>
            <a:ext cx="8572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8177"/>
                </a:solidFill>
                <a:latin typeface="Aptos"/>
                <a:ea typeface="Aptos"/>
                <a:cs typeface="Aptos"/>
              </a:defRPr>
            </a:pPr>
            <a:r>
              <a:t>Source: BigQuery public London Bicycles dataset; dbt marts in london_bicycles_analytics.</a:t>
            </a:r>
          </a:p>
        </p:txBody>
      </p:sp>
    </p:spTree>
    <p:extLst>
      <p:ext uri="{BB962C8B-B14F-4D97-AF65-F5344CB8AC3E}">
        <p14:creationId xmlns:p14="http://schemas.microsoft.com/office/powerpoint/2010/main" val="50178929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4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3509C72-AAB0-4923-9C77-36783DD1F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384F2A-183C-4783-B5A8-6FFDB2A90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5275"/>
            <a:ext cx="342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27933B-6400-4E71-B8FB-3490502DF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436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50E25D-5C29-45DE-912C-34D0ED743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48400"/>
            <a:ext cx="10839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3DA"/>
          </a:solidFill>
          <a:ln xmlns:a="http://schemas.openxmlformats.org/drawingml/2006/main" w="9525">
            <a:solidFill>
              <a:srgbClr val="E8E3DA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B973B2-958E-4F98-B786-F106587B0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810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The pipeline is deliberately simple: public source, tested marts, executive outputs.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B13DA2-8503-4509-B0EF-B84D84DB2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24000"/>
            <a:ext cx="78105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This design avoids local data movement while keeping transformations version-controlled and repeatable.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EB2DFA-ABAD-47EE-833E-8D8C55BBD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24150"/>
            <a:ext cx="1695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DDD2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DFDA73-2C7E-4A4F-AB26-3582E13A2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24150"/>
            <a:ext cx="1695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8D5D1B-1A6B-4378-ABCC-72C2C5B4C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13906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Public source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8C431F-6A40-468B-ACAF-926733EA4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00400"/>
            <a:ext cx="139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BigQuery London Bicycles cycle_hire and cycle_stations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3403A2-F515-4493-942D-ACFB745EE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724150"/>
            <a:ext cx="1695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DDD2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596D35-B5DB-40F6-B792-67113DE8A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724150"/>
            <a:ext cx="1695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A853"/>
          </a:solidFill>
          <a:ln xmlns:a="http://schemas.openxmlformats.org/drawingml/2006/main" w="9525">
            <a:solidFill>
              <a:srgbClr val="34A853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E0D2AC-88D4-4D08-B8BD-81869436B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914650"/>
            <a:ext cx="13906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Warehouse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C25A2A-86AD-4BD7-A2BB-6F2A4B26A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200400"/>
            <a:ext cx="139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Project dataset london_bicycles_analytics in EU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8045FA-8939-47E8-A50B-57BC29BDD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24150"/>
            <a:ext cx="1695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DDD2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3E1063-9B9B-4626-8B45-16F286243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24150"/>
            <a:ext cx="1695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C05"/>
          </a:solidFill>
          <a:ln xmlns:a="http://schemas.openxmlformats.org/drawingml/2006/main" w="9525">
            <a:solidFill>
              <a:srgbClr val="FBBC0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3C5E78-C1AD-4568-A6C2-0E2DB58C8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914650"/>
            <a:ext cx="13906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dbt ELT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5B3ECF-D722-4314-A023-79B9CF305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200400"/>
            <a:ext cx="139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Staging, dimensions, fact table, and marts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F3706E-FFB1-4925-BFE7-248450352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24150"/>
            <a:ext cx="1695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DDD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66F733-FEA3-43A2-A419-0D0C57555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24150"/>
            <a:ext cx="1695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4335"/>
          </a:solidFill>
          <a:ln xmlns:a="http://schemas.openxmlformats.org/drawingml/2006/main" w="9525">
            <a:solidFill>
              <a:srgbClr val="EA4335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73E6E8-B3CF-4A3E-BF7A-02BC62037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914650"/>
            <a:ext cx="13906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Quality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29339F-64C9-4C7F-87EB-BBEE6BD18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200400"/>
            <a:ext cx="139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17 tests: 12 pass, 5 documented warnings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55C675-EA72-4502-A69E-215053338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724150"/>
            <a:ext cx="16954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DDD2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57D42D-9B54-4E48-9CD1-0F3125BA6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724150"/>
            <a:ext cx="1695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58EEB8-C0F8-4BE4-9F69-3F0775ECB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914650"/>
            <a:ext cx="13906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Analysis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194B6B-295C-4D6E-8C87-F6A1584AF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200400"/>
            <a:ext cx="139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Python notebook charts and executive findings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80C9914-B396-44A3-8429-150642A71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181350"/>
            <a:ext cx="247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085"/>
          </a:solidFill>
          <a:ln xmlns:a="http://schemas.openxmlformats.org/drawingml/2006/main" w="9525">
            <a:solidFill>
              <a:srgbClr val="667085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D986C21-7134-401E-975E-34C25A8AA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067050"/>
            <a:ext cx="190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&gt;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348A947-8376-4B05-BC54-1C6938AA8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181350"/>
            <a:ext cx="247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085"/>
          </a:solidFill>
          <a:ln xmlns:a="http://schemas.openxmlformats.org/drawingml/2006/main" w="9525">
            <a:solidFill>
              <a:srgbClr val="667085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0014EA5-7C09-4604-BDD0-79889E329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067050"/>
            <a:ext cx="190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3B7480-281E-4D68-A592-2CC379E69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181350"/>
            <a:ext cx="247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085"/>
          </a:solidFill>
          <a:ln xmlns:a="http://schemas.openxmlformats.org/drawingml/2006/main" w="9525">
            <a:solidFill>
              <a:srgbClr val="667085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41ECBFA-AC7A-4504-B1E2-466C21294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67050"/>
            <a:ext cx="190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&gt;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28F1BEE-C68B-4152-8E2B-67E8E1272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181350"/>
            <a:ext cx="247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085"/>
          </a:solidFill>
          <a:ln xmlns:a="http://schemas.openxmlformats.org/drawingml/2006/main" w="9525">
            <a:solidFill>
              <a:srgbClr val="667085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FF546D8-517F-4C4F-9140-ABD2FD33C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067050"/>
            <a:ext cx="190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&gt;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48A65E8-5F3C-444A-B531-4EC94B6BB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14850"/>
            <a:ext cx="962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3DA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8E7CE74-A461-4C4A-92E4-C47FC366B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705350"/>
            <a:ext cx="12573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285F4"/>
                </a:solidFill>
                <a:latin typeface="Aptos"/>
                <a:ea typeface="Aptos"/>
                <a:cs typeface="Aptos"/>
              </a:defRPr>
            </a:pPr>
            <a:r>
              <a:t>Design choice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6890997-66C0-4066-B79A-B2C7A777B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686300"/>
            <a:ext cx="7429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Use BigQuery views/tables and dbt marts so repeated analysis avoids scanning the 83M-row public source table every time.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1F174CC-AB6F-46A5-B921-28280727F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43650"/>
            <a:ext cx="8572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8177"/>
                </a:solidFill>
                <a:latin typeface="Aptos"/>
                <a:ea typeface="Aptos"/>
                <a:cs typeface="Aptos"/>
              </a:defRPr>
            </a:pPr>
            <a:r>
              <a:t>Source: project architecture and dbt_london_bicycles model structure.</a:t>
            </a:r>
          </a:p>
        </p:txBody>
      </p:sp>
    </p:spTree>
    <p:extLst>
      <p:ext uri="{BB962C8B-B14F-4D97-AF65-F5344CB8AC3E}">
        <p14:creationId xmlns:p14="http://schemas.microsoft.com/office/powerpoint/2010/main" val="81196832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4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69436AD-AC2A-435E-A7A9-97C6E190B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5BF57D-D381-43E0-8F71-182B0F1D2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5275"/>
            <a:ext cx="342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DATA QUALITY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F19E7A-B44C-4621-883F-F1BE1DA75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436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42F6E2-767C-41E6-BE3E-9E6A55182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48400"/>
            <a:ext cx="10839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3DA"/>
          </a:solidFill>
          <a:ln xmlns:a="http://schemas.openxmlformats.org/drawingml/2006/main" w="9525">
            <a:solidFill>
              <a:srgbClr val="E8E3DA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1BB689-9112-4402-BBA5-A10D46872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810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dbt passed the build and converted source caveats into visible warnings.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419421-5288-4F61-8D75-686E08505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24000"/>
            <a:ext cx="78105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The pipeline is operational, and quality tests documented limitations that affect analysis interpretation.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597513-1A49-4138-B6CC-B8728E4EC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81250"/>
            <a:ext cx="1676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3DA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6937E6-4750-45DF-85B5-CC2C5968A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47950"/>
            <a:ext cx="12382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4285F4"/>
                </a:solidFill>
                <a:latin typeface="Aptos"/>
                <a:ea typeface="Aptos"/>
                <a:cs typeface="Aptos"/>
              </a:defRPr>
            </a:pPr>
            <a:r>
              <a:t>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599321-6886-4998-80CD-37F374404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43250"/>
            <a:ext cx="1238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Models built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93E437-A93A-49A3-94F8-9D2926FD5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381250"/>
            <a:ext cx="1676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3D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00A3DB-C9D4-4ACB-89AF-E36A7F485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647950"/>
            <a:ext cx="12382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34A853"/>
                </a:solidFill>
                <a:latin typeface="Aptos"/>
                <a:ea typeface="Aptos"/>
                <a:cs typeface="Aptos"/>
              </a:defRPr>
            </a:pPr>
            <a:r>
              <a:t>12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C7C215-8BD4-4138-9878-CB47C5821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143250"/>
            <a:ext cx="1238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Tests passed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91EF2A-506A-45B0-8BFB-890098CA6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381250"/>
            <a:ext cx="1676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3DA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830C59-7D8B-47F3-AEA3-B47A69B90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647950"/>
            <a:ext cx="12382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BBC05"/>
                </a:solidFill>
                <a:latin typeface="Aptos"/>
                <a:ea typeface="Aptos"/>
                <a:cs typeface="Aptos"/>
              </a:defRPr>
            </a:pPr>
            <a:r>
              <a:t>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FC5DA4-739D-42C6-A0E7-3178CBE2B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143250"/>
            <a:ext cx="1238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Warnings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F51EFF-7B2A-4955-907D-E05DE8D50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381250"/>
            <a:ext cx="1676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3DA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8BC9D5-6095-44CD-BCB4-36912ED9E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47950"/>
            <a:ext cx="12382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EA4335"/>
                </a:solidFill>
                <a:latin typeface="Aptos"/>
                <a:ea typeface="Aptos"/>
                <a:cs typeface="Aptos"/>
              </a:defRPr>
            </a:pPr>
            <a:r>
              <a:t>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283780-A52A-48EB-9286-1C41D2580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143250"/>
            <a:ext cx="1238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Errors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FFF21C-C0FC-4068-A109-C99DA2DD2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10050"/>
            <a:ext cx="8858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3DA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656E6F-5482-4D7C-9AEB-41E017546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419600"/>
            <a:ext cx="1714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Warnings to disclose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B12B9D-DB94-4593-ADD9-520E3CBE9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400550"/>
            <a:ext cx="6191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Invalid or missing durations; missing start station IDs; historical station IDs not always matching the current station reference table.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CEC89B-28DD-41C8-8451-ED6FB2991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953000"/>
            <a:ext cx="857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A4335"/>
                </a:solidFill>
                <a:latin typeface="Aptos"/>
                <a:ea typeface="Aptos"/>
                <a:cs typeface="Aptos"/>
              </a:defRPr>
            </a:pPr>
            <a:r>
              <a:t>Impact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4C2083-48E1-427C-B607-19D1BCBED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953000"/>
            <a:ext cx="619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Duration metrics are filtered; station analysis includes a documented reference-data limitation.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E142565-E8A8-438D-B841-1CE801440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43650"/>
            <a:ext cx="8572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8177"/>
                </a:solidFill>
                <a:latin typeface="Aptos"/>
                <a:ea typeface="Aptos"/>
                <a:cs typeface="Aptos"/>
              </a:defRPr>
            </a:pPr>
            <a:r>
              <a:t>Source: dbt test run; docs/data_quality_findings.md.</a:t>
            </a:r>
          </a:p>
        </p:txBody>
      </p:sp>
    </p:spTree>
    <p:extLst>
      <p:ext uri="{BB962C8B-B14F-4D97-AF65-F5344CB8AC3E}">
        <p14:creationId xmlns:p14="http://schemas.microsoft.com/office/powerpoint/2010/main" val="155628848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4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B607B67-E1B1-4B42-948D-8B6448FCC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0215D4-B61E-4408-AE2F-5DFACC633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5275"/>
            <a:ext cx="342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HOURLY DEMAND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4E3168-41CC-4188-B14C-A8C564488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436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F6B2B8-7103-4D41-9067-A0F97F4EA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48400"/>
            <a:ext cx="10839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3DA"/>
          </a:solidFill>
          <a:ln xmlns:a="http://schemas.openxmlformats.org/drawingml/2006/main" w="9525">
            <a:solidFill>
              <a:srgbClr val="E8E3DA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CA2279-26EB-4A84-94F5-8966856AD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810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Demand is commute-led, with the strongest trip volume at 17:00.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159B51-C0A5-4825-A1F5-34108E871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24000"/>
            <a:ext cx="78105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The top hours cluster around evening and morning commute windows, giving operations a clear coverage target.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5E3661-EEE5-4AEF-BEFB-FE39CAAFA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24100"/>
            <a:ext cx="68580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3DA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470EBE-6005-4CFA-B762-832837CB3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33650"/>
            <a:ext cx="2476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Trips by start hour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6FAE92-5BA9-496D-B0C8-805AC6906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609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C7D1"/>
          </a:solidFill>
          <a:ln xmlns:a="http://schemas.openxmlformats.org/drawingml/2006/main" w="9525">
            <a:solidFill>
              <a:srgbClr val="BFC7D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A915A7-1FF2-4D44-81D0-F6290BBD9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491"/>
            <a:ext cx="199231" cy="17160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DF6D63-21B9-4DBF-AD31-906B6D9AB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86350"/>
            <a:ext cx="275431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C3AEB9-AF66-4817-9C75-B24D4E961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681" y="4878428"/>
            <a:ext cx="199231" cy="112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B7C724-E296-4421-B9B1-5E46A5F08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9063" y="4918399"/>
            <a:ext cx="199231" cy="727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622948-0CD6-40D3-852D-83CB8C693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0963" y="5086350"/>
            <a:ext cx="275431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28A15E-4EC5-4191-866A-387034362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444" y="4941107"/>
            <a:ext cx="199231" cy="4999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2E0D04-F847-4A5C-A830-AB06CF1A6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825" y="4950241"/>
            <a:ext cx="199231" cy="408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37AC01-7920-4CBE-9978-834478F0F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3725" y="5086350"/>
            <a:ext cx="275431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806CF1-A047-4200-9684-2C504F232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8206" y="4923770"/>
            <a:ext cx="199231" cy="67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B00A72-94BD-4EE6-B8B7-61E29A79D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4588" y="4708058"/>
            <a:ext cx="199231" cy="28304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97C5C0-35E2-4953-8EA4-336D21FCF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6488" y="5086350"/>
            <a:ext cx="275431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B7B9C2-0712-4976-B916-9DDA5A3BE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0969" y="4177789"/>
            <a:ext cx="199231" cy="81331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D0A579-1050-44EB-A046-307CD1D83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7350" y="3491860"/>
            <a:ext cx="199231" cy="1499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C05"/>
          </a:solidFill>
          <a:ln xmlns:a="http://schemas.openxmlformats.org/drawingml/2006/main" w="9525">
            <a:solidFill>
              <a:srgbClr val="FBBC0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7959DB-15CA-4A57-8AE5-A25287EC6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9250" y="5086350"/>
            <a:ext cx="275431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8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28C996-CB81-4F1E-8C5A-388E486B4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3731" y="4066347"/>
            <a:ext cx="199231" cy="9247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8EE415-860B-4107-934B-760E1ABB4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0113" y="4324956"/>
            <a:ext cx="199231" cy="666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B0D4142-0AC3-4A82-BDF7-E339CF420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13" y="5086350"/>
            <a:ext cx="275431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10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5552099-4F2D-4739-B456-21C576DD5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6494" y="4249162"/>
            <a:ext cx="199231" cy="7419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5EC8889-AAF1-4328-8064-E93164C1E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079964"/>
            <a:ext cx="199231" cy="91113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811944-94F4-4D23-BD4B-3F23B60B2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5086350"/>
            <a:ext cx="275431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12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B62727-5290-45CC-8802-552C1C024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9256" y="4031791"/>
            <a:ext cx="199231" cy="95930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1920CBF-8503-497C-B448-A95445DD7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5638" y="4038581"/>
            <a:ext cx="199231" cy="95251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32EA659-77E1-4739-88B3-398758A5B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7538" y="5086350"/>
            <a:ext cx="275431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14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8FCE8EE-7C13-4E77-A7A3-60E547E98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2019" y="3980871"/>
            <a:ext cx="199231" cy="10102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8FB54A1-1FEC-4468-9DE5-1966068A7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8400" y="3806363"/>
            <a:ext cx="199231" cy="118473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2A86B26-2E42-485F-BC9A-67E10D825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0300" y="5086350"/>
            <a:ext cx="275431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16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E7F5581-2FAF-4CBC-A326-4834DAEAE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4781" y="3314700"/>
            <a:ext cx="199231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4335"/>
          </a:solidFill>
          <a:ln xmlns:a="http://schemas.openxmlformats.org/drawingml/2006/main" w="9525">
            <a:solidFill>
              <a:srgbClr val="EA4335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10F6A7C-8EAE-4D7A-BCFE-6DB1CDBDB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1163" y="3421575"/>
            <a:ext cx="199231" cy="156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C05"/>
          </a:solidFill>
          <a:ln xmlns:a="http://schemas.openxmlformats.org/drawingml/2006/main" w="9525">
            <a:solidFill>
              <a:srgbClr val="FBBC05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759EBDD-904B-4905-ABDD-7C27A540D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3063" y="5086350"/>
            <a:ext cx="275431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18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7BF128B-58FD-44B0-B60F-13A1C3FA7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7544" y="3966291"/>
            <a:ext cx="199231" cy="102480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83BECA2-B0D5-425B-8805-8DB98CDCC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3925" y="4321734"/>
            <a:ext cx="199231" cy="66936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94220E0-5ECD-40A0-9A91-9864B3F1F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5825" y="5086350"/>
            <a:ext cx="275431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20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A0AF964-3D45-46DD-8F6A-377D3C15B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0306" y="4515061"/>
            <a:ext cx="199231" cy="47603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E30070F-64E7-4B76-A679-3B7581BDE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6688" y="4610785"/>
            <a:ext cx="199231" cy="3803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36A2856-9E1F-415A-945E-A7F0D5E89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8588" y="5086350"/>
            <a:ext cx="275431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22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3E2AD2A-8D61-42C8-B9B2-635BFA0FE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3069" y="4725067"/>
            <a:ext cx="199231" cy="2660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7761C23-56B1-4248-A4BD-2CD51102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219700"/>
            <a:ext cx="15240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Hour of day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4529472-165B-49DB-8E53-7A8AD2479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333625"/>
            <a:ext cx="27813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12B"/>
          </a:solidFill>
          <a:ln xmlns:a="http://schemas.openxmlformats.org/drawingml/2006/main" w="9525">
            <a:solidFill>
              <a:srgbClr val="18212B"/>
            </a:solidFill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3E18A19-D92C-4DEF-9E3C-B8975563D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628900"/>
            <a:ext cx="1714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FD3FF"/>
                </a:solidFill>
                <a:latin typeface="Aptos"/>
                <a:ea typeface="Aptos"/>
                <a:cs typeface="Aptos"/>
              </a:defRPr>
            </a:pPr>
            <a:r>
              <a:t>Peak hours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650EBD7-5A09-4497-AFEF-1089D5DA6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000375"/>
            <a:ext cx="10668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17:00 18:00 08:00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E9E8FBE-5653-4F29-AAA9-8D940FC06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057525"/>
            <a:ext cx="104775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E7EEF8"/>
                </a:solidFill>
                <a:latin typeface="Aptos"/>
                <a:ea typeface="Aptos"/>
                <a:cs typeface="Aptos"/>
              </a:defRPr>
            </a:pPr>
            <a:r>
              <a:t>8.46M trips 7.92M trips 7.56M trips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26A8856-732D-4A27-8E85-3C09A638A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953000"/>
            <a:ext cx="2781300" cy="523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Action: align bike availability and field support around 16:00-19:00.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B7B2D43-2F38-4C00-B2B5-E3AA1B98C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43650"/>
            <a:ext cx="8572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8177"/>
                </a:solidFill>
                <a:latin typeface="Aptos"/>
                <a:ea typeface="Aptos"/>
                <a:cs typeface="Aptos"/>
              </a:defRPr>
            </a:pPr>
            <a:r>
              <a:t>Source: mart_hourly_demand.</a:t>
            </a:r>
          </a:p>
        </p:txBody>
      </p:sp>
    </p:spTree>
    <p:extLst>
      <p:ext uri="{BB962C8B-B14F-4D97-AF65-F5344CB8AC3E}">
        <p14:creationId xmlns:p14="http://schemas.microsoft.com/office/powerpoint/2010/main" val="9087125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4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BC3244D-F59F-45E0-9A3B-E35A4ABAD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4E4B1D-AA4D-4537-AF2F-0B6AA76F5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5275"/>
            <a:ext cx="342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WEEKDAY PATTERN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4DE79A-DFE9-40FD-BDC2-191510B4E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436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6F24F7-222B-4C41-80B5-AC99FAD6A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48400"/>
            <a:ext cx="10839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3DA"/>
          </a:solidFill>
          <a:ln xmlns:a="http://schemas.openxmlformats.org/drawingml/2006/main" w="9525">
            <a:solidFill>
              <a:srgbClr val="E8E3DA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16F713-0474-4D1B-B2C7-903711CE2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810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Weekdays carry the volume; weekends carry longer trips.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E248CB-B6DE-40F1-B27A-F70B0C60B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24000"/>
            <a:ext cx="78105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This split suggests weekday commuting behavior and weekend leisure behavior should be managed differently.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F49574-3D13-40C1-A769-393AA0C9B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62865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3DA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40B96F-559E-41AA-9FD3-6FECD38D7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2476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Trips by day of week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11674D-B9F5-48DD-A828-1ED76BE3A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7815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C7D1"/>
          </a:solidFill>
          <a:ln xmlns:a="http://schemas.openxmlformats.org/drawingml/2006/main" w="9525">
            <a:solidFill>
              <a:srgbClr val="BFC7D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153A0A-791E-4889-9C90-1F6CAB401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632621"/>
            <a:ext cx="555171" cy="11489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A853"/>
          </a:solidFill>
          <a:ln xmlns:a="http://schemas.openxmlformats.org/drawingml/2006/main" w="9525">
            <a:solidFill>
              <a:srgbClr val="34A853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83AFB4-9843-49DF-9861-54992B044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76800"/>
            <a:ext cx="631371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Sun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0E1732-3A67-4B6E-8403-6013280A0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3421" y="3479460"/>
            <a:ext cx="555171" cy="1302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ED3631-DB86-49CA-97C2-D134569B8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5321" y="4876800"/>
            <a:ext cx="631371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Mon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28BE19-FE7D-41E4-A75A-88BB4D7D2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8143" y="3378726"/>
            <a:ext cx="555171" cy="14028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2012EF-1D6A-46DB-8514-7B625AF6F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043" y="4876800"/>
            <a:ext cx="631371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Tue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A2DF58-B814-4C02-B2FC-8E6316D80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2864" y="3381101"/>
            <a:ext cx="555171" cy="140044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F8ECBC-AEDB-4E24-A079-35E8C4AF0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4764" y="4876800"/>
            <a:ext cx="631371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Wed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51F70B-B934-4734-8BE2-F4C6A5E9F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7586" y="3371850"/>
            <a:ext cx="555171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3F9045-751A-479A-9102-B2C771686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9486" y="4876800"/>
            <a:ext cx="631371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Thu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CEF583-CBC0-4F83-9043-90105F275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2307" y="3424954"/>
            <a:ext cx="555171" cy="13565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D7D1E8-3730-42CA-AFCD-C38DE0ABA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4207" y="4876800"/>
            <a:ext cx="631371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Fri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0A63A6-B2AA-418A-A3F2-0257BCA7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7029" y="3526411"/>
            <a:ext cx="555171" cy="125513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A853"/>
          </a:solidFill>
          <a:ln xmlns:a="http://schemas.openxmlformats.org/drawingml/2006/main" w="9525">
            <a:solidFill>
              <a:srgbClr val="34A853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E2EC75-434D-45C3-9434-BDB722164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8929" y="4876800"/>
            <a:ext cx="631371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Sat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440776-1293-41C2-AE11-D60592849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362200"/>
            <a:ext cx="1600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3DA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BE6C8A-CFAA-423B-985F-D07A37DD8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686050"/>
            <a:ext cx="1143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4285F4"/>
                </a:solidFill>
                <a:latin typeface="Aptos"/>
                <a:ea typeface="Aptos"/>
                <a:cs typeface="Aptos"/>
              </a:defRPr>
            </a:pPr>
            <a:r>
              <a:t>61.8M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E3D6263-4F17-4174-B644-D32ABB8E0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162300"/>
            <a:ext cx="1143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weekday trips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44FFF11-6BF2-43D5-8BA1-E9C164750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362200"/>
            <a:ext cx="1600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3DA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BF39695-C3C9-4940-9082-9F3E29490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2686050"/>
            <a:ext cx="1143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34A853"/>
                </a:solidFill>
                <a:latin typeface="Aptos"/>
                <a:ea typeface="Aptos"/>
                <a:cs typeface="Aptos"/>
              </a:defRPr>
            </a:pPr>
            <a:r>
              <a:t>21.6M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652FA20-3F74-4973-B672-86ED83E90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3162300"/>
            <a:ext cx="1143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weekend trips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2690C69-C531-44C9-A757-5F3237C3D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038600"/>
            <a:ext cx="3476625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3DA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4E3B91-CAD5-4198-B84C-19D7B61C5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276725"/>
            <a:ext cx="300037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Weekend rides average 28.19 minutes versus 19.60 on weekdays.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B16C96E-A22F-44A6-9505-A81C5ECA0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43650"/>
            <a:ext cx="8572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8177"/>
                </a:solidFill>
                <a:latin typeface="Aptos"/>
                <a:ea typeface="Aptos"/>
                <a:cs typeface="Aptos"/>
              </a:defRPr>
            </a:pPr>
            <a:r>
              <a:t>Source: mart_weekday_demand.</a:t>
            </a:r>
          </a:p>
        </p:txBody>
      </p:sp>
    </p:spTree>
    <p:extLst>
      <p:ext uri="{BB962C8B-B14F-4D97-AF65-F5344CB8AC3E}">
        <p14:creationId xmlns:p14="http://schemas.microsoft.com/office/powerpoint/2010/main" val="212481799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4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22518E8-C01D-4F3A-AC52-54372DAA2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AD2B9A-22EE-43BD-8A54-FE9572350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5275"/>
            <a:ext cx="342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SEASONALITY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0A19FD-24E6-4591-906E-BB3FBE028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436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4B5168-EEC3-4FDC-9612-629B5FB58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48400"/>
            <a:ext cx="10839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3DA"/>
          </a:solidFill>
          <a:ln xmlns:a="http://schemas.openxmlformats.org/drawingml/2006/main" w="9525">
            <a:solidFill>
              <a:srgbClr val="E8E3DA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9AFF80-FB3A-405D-A2A7-3337F1400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810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Summer demand creates recurring capacity pressure.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23927D-DF6B-4A3A-9D92-608398E99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24000"/>
            <a:ext cx="78105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Monthly demand peaks in warm-weather periods, with 2022 summer months leading the dataset.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D373EC-9B97-439E-9D47-14CE13947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68580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3DA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BA0B38-D12D-4B6B-97BE-4C554077F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2381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Top demand months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3A92EA-5378-4E53-ADBB-14CA51B9C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67050"/>
            <a:ext cx="1143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2022-07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09AC48-F08D-4FCE-871C-DB618971D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105150"/>
            <a:ext cx="3714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FBBD7B-0AFE-4B85-B475-C95E1B7AA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067050"/>
            <a:ext cx="666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1.30M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1647A1-1D6A-420D-8586-FB6AE26A1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71850"/>
            <a:ext cx="1143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2022-06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5CD057-BB10-46AB-B772-4F9E4E035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409950"/>
            <a:ext cx="3615923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CB0F83-8ADA-4640-BD5A-689FB8526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2873" y="3371850"/>
            <a:ext cx="666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1.27M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E2ADC7-FF09-4B92-8F37-D0CA48A4C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76650"/>
            <a:ext cx="1143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2022-08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B39BCA-9C2F-4C41-8C1E-616761C08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714750"/>
            <a:ext cx="3559881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5F3C37-81F6-4565-8467-6D879FDB2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6831" y="3676650"/>
            <a:ext cx="666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1.25M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BC62D9-E7AE-42C1-A233-F571E7820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81450"/>
            <a:ext cx="1143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2018-07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2105B8-2B9F-49DD-82C3-FA5B1BDDA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019550"/>
            <a:ext cx="3531856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648228-2490-4EAF-9275-A21B79B70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8806" y="3981450"/>
            <a:ext cx="666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1.24M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D049B0-CABE-448E-9FB5-22187FA94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86250"/>
            <a:ext cx="1143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2021-09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1DD5EA7-351D-4FEC-85DF-AF347DEC8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324350"/>
            <a:ext cx="3445524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BF8EFF-3866-4670-A3B1-B553A6EDE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2474" y="4286250"/>
            <a:ext cx="666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1.21M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F3FBFA-9980-4B74-BD12-16CA6A705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91050"/>
            <a:ext cx="1143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2022-05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7A1E2F1-0492-4E92-B100-2D47EBCFD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629150"/>
            <a:ext cx="3393299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F01A02-B9C8-411E-A370-CAFD5383B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0249" y="4591050"/>
            <a:ext cx="666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1.19M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58AB01B-5CB3-45E6-9379-2FCAD693F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95850"/>
            <a:ext cx="1143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2016-07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0D2475-E834-49F5-AD35-DDBE02A9D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933950"/>
            <a:ext cx="3345161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4E14DDC-9FE5-46FE-BEDA-8B5164D5F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2111" y="4895850"/>
            <a:ext cx="666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1.17M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4228D16-AFE3-4452-8499-6E29C6975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00650"/>
            <a:ext cx="1143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2021-06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B5CF360-AB1B-4A97-868D-87F3E1798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238750"/>
            <a:ext cx="3333484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0052862-D79D-4BC4-BE63-0EDA5735C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434" y="5200650"/>
            <a:ext cx="666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1.17M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2E3443D-C78D-47B4-B3A9-B590E6CD2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333625"/>
            <a:ext cx="28575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3DA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0869C45-7756-44E6-BA59-295854E99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590800"/>
            <a:ext cx="1809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Top months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DC97AE4-7637-41F0-A606-20F4232F0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028950"/>
            <a:ext cx="2190750" cy="1047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2022-07  1.30M 2022-06  1.27M 2022-08  1.25M 2018-07  1.24M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3129D93-74FA-42ED-AE49-D6C83D929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819650"/>
            <a:ext cx="29146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4285F4"/>
                </a:solidFill>
                <a:latin typeface="Aptos"/>
                <a:ea typeface="Aptos"/>
                <a:cs typeface="Aptos"/>
              </a:defRPr>
            </a:pPr>
            <a:r>
              <a:t>Highest single day: 2015-07-09 with 72,295 trips.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C3680E0-6E3E-4B7E-B284-DB5E43BE2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43650"/>
            <a:ext cx="8572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8177"/>
                </a:solidFill>
                <a:latin typeface="Aptos"/>
                <a:ea typeface="Aptos"/>
                <a:cs typeface="Aptos"/>
              </a:defRPr>
            </a:pPr>
            <a:r>
              <a:t>Source: mart_daily_demand aggregated monthly.</a:t>
            </a:r>
          </a:p>
        </p:txBody>
      </p:sp>
    </p:spTree>
    <p:extLst>
      <p:ext uri="{BB962C8B-B14F-4D97-AF65-F5344CB8AC3E}">
        <p14:creationId xmlns:p14="http://schemas.microsoft.com/office/powerpoint/2010/main" val="187424976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4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59DBC4A-41A1-4D3E-9528-ADFA83F97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EC82D9-B063-4A17-B947-10999E473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5275"/>
            <a:ext cx="342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STATION ACTIVITY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E3D476-B4D3-4960-A95C-AD78691A2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436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799CA8-A23B-4B3D-8499-4F4CF9C1A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48400"/>
            <a:ext cx="10839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3DA"/>
          </a:solidFill>
          <a:ln xmlns:a="http://schemas.openxmlformats.org/drawingml/2006/main" w="9525">
            <a:solidFill>
              <a:srgbClr val="E8E3DA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21CFFA-91A5-4373-BC5C-5D7B4336F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810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Activity concentrates around central, park, and transport stations.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7310F5-D457-4269-8873-5D67A777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24000"/>
            <a:ext cx="7905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The busiest stations are not only high-volume; they are operational anchors for bike availability.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65DC1C-85A2-46A3-996E-039EF5EC2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28850"/>
            <a:ext cx="6953250" cy="3638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3DA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DEEF39-CAB2-4EEC-A01A-A1317D4A7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95550"/>
            <a:ext cx="2857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Top stations by total activity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DE7C7F-21AF-42E7-B1A5-76CE8EB60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28950"/>
            <a:ext cx="2000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Hyde Park Corner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E60D29-5054-4840-B188-A30A5A8B9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067050"/>
            <a:ext cx="314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A853"/>
          </a:solidFill>
          <a:ln xmlns:a="http://schemas.openxmlformats.org/drawingml/2006/main" w="9525">
            <a:solidFill>
              <a:srgbClr val="34A853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E8749E-8F5D-4E77-AC4F-7A2A709E4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028950"/>
            <a:ext cx="666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1.31M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6FE030-85EE-4EC9-9CEC-567383191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71850"/>
            <a:ext cx="2000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Argyle St, Kings Cross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78EF24-AC90-4D76-BC27-F4516790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409950"/>
            <a:ext cx="2754628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A853"/>
          </a:solidFill>
          <a:ln xmlns:a="http://schemas.openxmlformats.org/drawingml/2006/main" w="9525">
            <a:solidFill>
              <a:srgbClr val="34A853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04DDF7-C9AB-4E4C-8BA2-71D677420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4528" y="3371850"/>
            <a:ext cx="666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1.15M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648794-9448-4D40-9578-8B0B9EA62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2000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Waterloo Station 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A95B59-3D4F-40B8-9AA4-FBCB27975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752850"/>
            <a:ext cx="2405997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A853"/>
          </a:solidFill>
          <a:ln xmlns:a="http://schemas.openxmlformats.org/drawingml/2006/main" w="9525">
            <a:solidFill>
              <a:srgbClr val="34A853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1F79F0-F2A9-40D5-8518-FAF4147C5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5897" y="3714750"/>
            <a:ext cx="666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1.01M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E97FB2-9426-4102-88B0-7AC75E682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57650"/>
            <a:ext cx="2000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Albert Gate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E66A69-F32C-4B4E-B76C-56A3E9B2A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095750"/>
            <a:ext cx="2167497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A853"/>
          </a:solidFill>
          <a:ln xmlns:a="http://schemas.openxmlformats.org/drawingml/2006/main" w="9525">
            <a:solidFill>
              <a:srgbClr val="34A85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848AD5-FA45-480A-A3B4-E62E59DB2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7397" y="4057650"/>
            <a:ext cx="666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0.91M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0595C5-E30F-45BC-96DC-6FF624E77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00550"/>
            <a:ext cx="2000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Black Lion Gate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424FDE-48D1-49DD-B8CA-4559EA9D7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438650"/>
            <a:ext cx="2140094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A853"/>
          </a:solidFill>
          <a:ln xmlns:a="http://schemas.openxmlformats.org/drawingml/2006/main" w="9525">
            <a:solidFill>
              <a:srgbClr val="34A853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D51996-F01E-4046-A1CC-F244D764A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9994" y="4400550"/>
            <a:ext cx="666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0.89M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5CC8EC3-102F-46CA-8168-00DE34499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43450"/>
            <a:ext cx="2000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Hop Exchange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4B3A98-C47A-4618-B2C3-B2C227CB4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781550"/>
            <a:ext cx="2098981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A853"/>
          </a:solidFill>
          <a:ln xmlns:a="http://schemas.openxmlformats.org/drawingml/2006/main" w="9525">
            <a:solidFill>
              <a:srgbClr val="34A853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E250D0A-6844-413D-86FA-16F0B4E3C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8881" y="4743450"/>
            <a:ext cx="666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0.88M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20A1B0A-DABC-4455-A819-285141616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86350"/>
            <a:ext cx="2000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Waterloo Station 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E155BA2-608B-4950-810C-23DCBE7AA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124450"/>
            <a:ext cx="191101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A853"/>
          </a:solidFill>
          <a:ln xmlns:a="http://schemas.openxmlformats.org/drawingml/2006/main" w="9525">
            <a:solidFill>
              <a:srgbClr val="34A853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CE74B88-19EC-4067-8520-8721FF959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0915" y="5086350"/>
            <a:ext cx="666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0.80M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76CBF46-8B48-46C1-B796-461B5F1C6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343150"/>
            <a:ext cx="295275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12B"/>
          </a:solidFill>
          <a:ln xmlns:a="http://schemas.openxmlformats.org/drawingml/2006/main" w="9525">
            <a:solidFill>
              <a:srgbClr val="18212B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09639EB-A307-4791-9583-48329EE1A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47950"/>
            <a:ext cx="1809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FD3FF"/>
                </a:solidFill>
                <a:latin typeface="Aptos"/>
                <a:ea typeface="Aptos"/>
                <a:cs typeface="Aptos"/>
              </a:defRPr>
            </a:pPr>
            <a:r>
              <a:t>Busiest station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2F4ED01-7839-4037-989B-08E61C894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048000"/>
            <a:ext cx="219075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Hyde Park Corner, Hyde Park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4DE8376-D7C2-4C87-A786-365A15D3C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29075"/>
            <a:ext cx="21907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7EEF8"/>
                </a:solidFill>
                <a:latin typeface="Aptos"/>
                <a:ea typeface="Aptos"/>
                <a:cs typeface="Aptos"/>
              </a:defRPr>
            </a:pPr>
            <a:r>
              <a:t>1,313,799 total arrivals and departures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41E2230-F952-406B-895A-EBCB00E1D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010150"/>
            <a:ext cx="28575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Use top stations as priority locations for monitoring and capacity planning.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1B680A8-5108-4300-9141-23DEAD979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43650"/>
            <a:ext cx="8572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8177"/>
                </a:solidFill>
                <a:latin typeface="Aptos"/>
                <a:ea typeface="Aptos"/>
                <a:cs typeface="Aptos"/>
              </a:defRPr>
            </a:pPr>
            <a:r>
              <a:t>Source: mart_station_activity.</a:t>
            </a:r>
          </a:p>
        </p:txBody>
      </p:sp>
    </p:spTree>
    <p:extLst>
      <p:ext uri="{BB962C8B-B14F-4D97-AF65-F5344CB8AC3E}">
        <p14:creationId xmlns:p14="http://schemas.microsoft.com/office/powerpoint/2010/main" val="88147770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4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EBB9500-76CD-4C90-ABA3-B434C79FC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46DF4F-00F9-4F33-AB45-7C7E3B59B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5275"/>
            <a:ext cx="342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IMBALANCE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FC14BD-FD2F-4F07-B7E1-20FBF6752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436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5E5A9C-669D-43B2-A935-C1EA8CD0E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48400"/>
            <a:ext cx="10839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3DA"/>
          </a:solidFill>
          <a:ln xmlns:a="http://schemas.openxmlformats.org/drawingml/2006/main" w="9525">
            <a:solidFill>
              <a:srgbClr val="E8E3DA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9DBDF7-5BC1-4086-ADEF-9D7F06694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810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Imbalance points directly to bike and dock pressure.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96B6A9-C126-4F5B-9BA9-871247883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24000"/>
            <a:ext cx="8382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Positive net departures suggest bikes are leaving faster than they return; negative values suggest arrival/dock pressure.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FCC7AC-EAC2-469B-B2C5-CB337F5E9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09800"/>
            <a:ext cx="67437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3DA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7001CD-44B6-4A2C-A77E-0A1C889BB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76500"/>
            <a:ext cx="4095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Stations with largest arrival/departure imbalance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EFE425-8C74-4612-8424-22B7FDB1D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952750"/>
            <a:ext cx="9525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9525">
            <a:solidFill>
              <a:srgbClr val="98A2B3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07BE76-EDA5-4CF1-AFA5-3721C3472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28950"/>
            <a:ext cx="2190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Hop Exchange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C7624D-500E-4D53-82FC-C857EF168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076575"/>
            <a:ext cx="13335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4335"/>
          </a:solidFill>
          <a:ln xmlns:a="http://schemas.openxmlformats.org/drawingml/2006/main" w="9525">
            <a:solidFill>
              <a:srgbClr val="EA4335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022DCE-B260-4864-AD8D-E19211FE8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28950"/>
            <a:ext cx="7048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-127k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293828-E1EF-4A45-9DD7-F5BE4AC91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2190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Holborn Circus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3E67AF-55C7-4F1A-8F2E-A6F7FF519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3142" y="3362325"/>
            <a:ext cx="825408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4335"/>
          </a:solidFill>
          <a:ln xmlns:a="http://schemas.openxmlformats.org/drawingml/2006/main" w="9525">
            <a:solidFill>
              <a:srgbClr val="EA4335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AD0C17-FAF0-42F8-8BC0-6879BC91B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2092" y="3314700"/>
            <a:ext cx="7048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-79k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9C188D-8FE5-4190-A099-CCDECC66D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00450"/>
            <a:ext cx="2190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St. James Sq.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BD7E81-0E66-4AC5-B0E0-F7AAC6B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397" y="3648075"/>
            <a:ext cx="712153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4335"/>
          </a:solidFill>
          <a:ln xmlns:a="http://schemas.openxmlformats.org/drawingml/2006/main" w="9525">
            <a:solidFill>
              <a:srgbClr val="EA433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3BF91D-7175-4A6E-B32D-4E9F3BD9D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5347" y="3600450"/>
            <a:ext cx="7048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-68k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3FE826-2263-4F06-B7CB-698B92B83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86200"/>
            <a:ext cx="2190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Waterloo Stn 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DE4FC3-320D-46A8-892A-D80A7A19B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933825"/>
            <a:ext cx="709883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F7B394-47F0-46D8-8656-48710E656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4633" y="3886200"/>
            <a:ext cx="7048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+68k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3F543B-5E0B-49B2-9096-C0F8135D1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71950"/>
            <a:ext cx="2190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Brushfield St.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2A4FFC-D85E-46A4-9379-23DA60EE5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2612" y="4219575"/>
            <a:ext cx="545938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4335"/>
          </a:solidFill>
          <a:ln xmlns:a="http://schemas.openxmlformats.org/drawingml/2006/main" w="9525">
            <a:solidFill>
              <a:srgbClr val="EA4335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BD8487-5FED-450F-92C8-7798F2EF6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1562" y="4171950"/>
            <a:ext cx="7048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-52k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BA7515-E50D-40BA-BCBC-1D2476A9F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57700"/>
            <a:ext cx="2190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William IV St.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E22342-FC36-4CC7-A4C2-66A11FF91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7268" y="4505325"/>
            <a:ext cx="471282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4335"/>
          </a:solidFill>
          <a:ln xmlns:a="http://schemas.openxmlformats.org/drawingml/2006/main" w="9525">
            <a:solidFill>
              <a:srgbClr val="EA4335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DDA588-BFBA-4DCD-B2FE-28E35BCF5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6218" y="4457700"/>
            <a:ext cx="7048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-45k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BF97F0C-3131-4143-941D-0303A0351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43450"/>
            <a:ext cx="2190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Eagle Wharf Rd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2C4D3A-B138-4F77-A30F-8E9171C32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791075"/>
            <a:ext cx="432704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BA9BAC8-46CB-4E0A-8508-B5E60F919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7454" y="4743450"/>
            <a:ext cx="7048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+41k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5B7AC58-B21F-484B-91F1-1251463D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29200"/>
            <a:ext cx="2190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Cloudesley Rd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B2F7DB4-EABA-4E68-8436-974587F0C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5076825"/>
            <a:ext cx="359858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7DAACED-1085-4815-9710-8FFB8D9E0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4608" y="5029200"/>
            <a:ext cx="7048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+34k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AFBFA9D-CBEA-4F4E-9818-3DD6500CD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14950"/>
            <a:ext cx="2190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Knightsbridge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4A67229-55EB-4C96-B64A-3A51EB572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5362575"/>
            <a:ext cx="301196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38E67C7-24CA-413D-8A53-7DD18D939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5946" y="5314950"/>
            <a:ext cx="7048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+29k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ABA4881-E0FF-43D1-B9AE-FDED3692D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219700"/>
            <a:ext cx="952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EA4335"/>
                </a:solidFill>
                <a:latin typeface="Aptos"/>
                <a:ea typeface="Aptos"/>
                <a:cs typeface="Aptos"/>
              </a:defRPr>
            </a:pPr>
            <a:r>
              <a:t>More arrivals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9F96D38-A1F0-4837-9831-24BE103DA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219700"/>
            <a:ext cx="1143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4285F4"/>
                </a:solidFill>
                <a:latin typeface="Aptos"/>
                <a:ea typeface="Aptos"/>
                <a:cs typeface="Aptos"/>
              </a:defRPr>
            </a:pPr>
            <a:r>
              <a:t>More departures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38DBF7E-AFF2-4DBB-A6AF-1D7F5B1A4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305050"/>
            <a:ext cx="3143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3DA"/>
            </a:solidFill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1F66BBE-0960-441A-AF34-DC05FB051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533650"/>
            <a:ext cx="2095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285F4"/>
                </a:solidFill>
                <a:latin typeface="Aptos"/>
                <a:ea typeface="Aptos"/>
                <a:cs typeface="Aptos"/>
              </a:defRPr>
            </a:pPr>
            <a:r>
              <a:t>Departure pressure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1F9C780-FBD7-4C2C-A029-635D523B7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895600"/>
            <a:ext cx="23812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Waterloo Station 2 +67,864 net departures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031C2BC-ABA2-40C9-92BB-63F5C7103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829050"/>
            <a:ext cx="3143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3DA"/>
            </a:solidFill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4695D5C-B886-45AE-9CDA-4FD658B17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057650"/>
            <a:ext cx="2095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A4335"/>
                </a:solidFill>
                <a:latin typeface="Aptos"/>
                <a:ea typeface="Aptos"/>
                <a:cs typeface="Aptos"/>
              </a:defRPr>
            </a:pPr>
            <a:r>
              <a:t>Arrival pressure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D0D4F14-5F76-4214-96C9-62A4CBB7E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419600"/>
            <a:ext cx="23812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Hop Exchange -127,481 net departures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7EB1996-DA71-49B5-AB81-EA97835C9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43650"/>
            <a:ext cx="8572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8177"/>
                </a:solidFill>
                <a:latin typeface="Aptos"/>
                <a:ea typeface="Aptos"/>
                <a:cs typeface="Aptos"/>
              </a:defRPr>
            </a:pPr>
            <a:r>
              <a:t>Source: mart_station_activity net_departure_count.</a:t>
            </a:r>
          </a:p>
        </p:txBody>
      </p:sp>
    </p:spTree>
    <p:extLst>
      <p:ext uri="{BB962C8B-B14F-4D97-AF65-F5344CB8AC3E}">
        <p14:creationId xmlns:p14="http://schemas.microsoft.com/office/powerpoint/2010/main" val="120879926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4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1DD7E2C-BE45-4684-A5DE-99AEAF193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B73C31-9F0B-4F41-9F51-B6DB074FA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5275"/>
            <a:ext cx="342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RECOMMENDATIONS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0225E9-0CC5-43C1-90FA-971050F18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436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5D16EB-900E-450B-9155-55CC28193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48400"/>
            <a:ext cx="10839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3DA"/>
          </a:solidFill>
          <a:ln xmlns:a="http://schemas.openxmlformats.org/drawingml/2006/main" w="9525">
            <a:solidFill>
              <a:srgbClr val="E8E3DA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481F4B-3B47-409D-BD3C-64F20D971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810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The operating response is rebalancing, peak coverage, and better context.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27F676-01A3-4A06-A9CF-B2DBF3732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24000"/>
            <a:ext cx="7905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The first pass already supports concrete actions, while future data can explain why demand shifts happen.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731813-78E6-4D1C-B9DC-B4B653D35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81250"/>
            <a:ext cx="971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3DA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A9AAAE-3AD3-4872-8890-3540BE496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81250"/>
            <a:ext cx="76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E4A3CB-3D9A-4772-9DF5-FA008753F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543175"/>
            <a:ext cx="2000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Rebalance bikes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633BCA-1978-4862-99F4-94C2CA1E1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524125"/>
            <a:ext cx="6572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Prioritize high positive net-departure stations, starting with Waterloo Station 2.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9DC513-27E2-4578-AFF5-A2ACA3286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81350"/>
            <a:ext cx="971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3DA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4CD91B-ACCD-4537-8E23-D1A19E6B8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81350"/>
            <a:ext cx="76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4335"/>
          </a:solidFill>
          <a:ln xmlns:a="http://schemas.openxmlformats.org/drawingml/2006/main" w="9525">
            <a:solidFill>
              <a:srgbClr val="EA4335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4FCD41-985C-48EC-8968-2686D463B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43275"/>
            <a:ext cx="2000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Protect docks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3C4CFE-503E-4FFB-B166-189A0C0A5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324225"/>
            <a:ext cx="6572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Monitor high negative net-departure stations, especially Hop Exchange.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21115C-A64C-43CF-B9AD-E1809007B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81450"/>
            <a:ext cx="971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3DA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1042B9-0A01-4F5B-9DEE-A3E4298CD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81450"/>
            <a:ext cx="76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A853"/>
          </a:solidFill>
          <a:ln xmlns:a="http://schemas.openxmlformats.org/drawingml/2006/main" w="9525">
            <a:solidFill>
              <a:srgbClr val="34A853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EF67C7-C086-4AB5-B722-13FFDCF7C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43375"/>
            <a:ext cx="2000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Cover peaks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A5DDDC-B331-45B8-B50E-4B3005F7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124325"/>
            <a:ext cx="6572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Align operations around the 16:00-19:00 evening commute window.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7DB3BB-6D39-4D1D-A327-8EB1E9CD4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81550"/>
            <a:ext cx="971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3DA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CA4E9D-1B94-4894-9AA3-613473978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81550"/>
            <a:ext cx="762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C05"/>
          </a:solidFill>
          <a:ln xmlns:a="http://schemas.openxmlformats.org/drawingml/2006/main" w="9525">
            <a:solidFill>
              <a:srgbClr val="FBBC05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7153A4-7A7E-45F1-B296-28BFF626B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943475"/>
            <a:ext cx="2000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Add context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E0ED41-8786-4335-99DA-90BC439C7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924425"/>
            <a:ext cx="6572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Bring in weather, holidays, and events to explain spikes and improve forecasting.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E657D0-B570-467F-9051-ADE0F7E3D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43650"/>
            <a:ext cx="8572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8177"/>
                </a:solidFill>
                <a:latin typeface="Aptos"/>
                <a:ea typeface="Aptos"/>
                <a:cs typeface="Aptos"/>
              </a:defRPr>
            </a:pPr>
            <a:r>
              <a:t>Source: analysis findings and station imbalance marts.</a:t>
            </a:r>
          </a:p>
        </p:txBody>
      </p:sp>
    </p:spTree>
    <p:extLst>
      <p:ext uri="{BB962C8B-B14F-4D97-AF65-F5344CB8AC3E}">
        <p14:creationId xmlns:p14="http://schemas.microsoft.com/office/powerpoint/2010/main" val="141094100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4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3B5601D-31EC-4F44-86F6-B046769E9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4285F4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A94790-E0EE-42B0-894D-4F87F809C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5275"/>
            <a:ext cx="342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NEXT STEPS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3E8A1C-BA69-499F-9679-077D0C110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43650"/>
            <a:ext cx="4000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F6D943-18D1-4F82-9398-E119165D2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48400"/>
            <a:ext cx="10839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3DA"/>
          </a:solidFill>
          <a:ln xmlns:a="http://schemas.openxmlformats.org/drawingml/2006/main" w="9525">
            <a:solidFill>
              <a:srgbClr val="E8E3DA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F02194-A7BC-4C1D-BBC6-5638D8A73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66750"/>
            <a:ext cx="7810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Next pass moves from analytics proof to repeatable decision product.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8B093F-BADD-4C59-9A46-DCB2A7B55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24000"/>
            <a:ext cx="8001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The foundation is working; the next layer adds automation, dashboarding, and richer explanatory data.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115D30-1009-4F44-A187-3EA77A7D8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24150"/>
            <a:ext cx="18097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3DA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56D1F1-4AB0-4A61-99BD-9C41DEB84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90850"/>
            <a:ext cx="1428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4285F4"/>
                </a:solidFill>
                <a:latin typeface="Aptos"/>
                <a:ea typeface="Aptos"/>
                <a:cs typeface="Aptos"/>
              </a:defRPr>
            </a:pPr>
            <a:r>
              <a:t>1. Validate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437E45-5F1A-44C0-B87F-1EFEA6BDC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409950"/>
            <a:ext cx="13906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Review findings and business framing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96585F-32BC-4D79-8D60-FEFE3EF20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45757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085"/>
          </a:solidFill>
          <a:ln xmlns:a="http://schemas.openxmlformats.org/drawingml/2006/main" w="9525">
            <a:solidFill>
              <a:srgbClr val="66708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E5CCB5-6B23-482C-B3E7-6E5191644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343275"/>
            <a:ext cx="190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4E0CD6-2499-4416-873D-10F83FC26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724150"/>
            <a:ext cx="18097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3DA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E6EA47-1ED0-4243-AD88-981EF2BF5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990850"/>
            <a:ext cx="1428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4A853"/>
                </a:solidFill>
                <a:latin typeface="Aptos"/>
                <a:ea typeface="Aptos"/>
                <a:cs typeface="Aptos"/>
              </a:defRPr>
            </a:pPr>
            <a:r>
              <a:t>2. Dashboard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2994D1-1068-4FF8-8C47-599A3C6F4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3409950"/>
            <a:ext cx="13906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Publish Looker Studio or BI views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123ED4-5213-4058-A6F4-636A4D5C9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345757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085"/>
          </a:solidFill>
          <a:ln xmlns:a="http://schemas.openxmlformats.org/drawingml/2006/main" w="9525">
            <a:solidFill>
              <a:srgbClr val="667085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B6E1D0-D33C-49B4-90B3-E4F6C3BDB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3343275"/>
            <a:ext cx="190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899EA1-566E-4D6B-A923-DC2BCEF97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724150"/>
            <a:ext cx="18097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3DA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38D321-8B12-440F-AF57-53308C3A2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990850"/>
            <a:ext cx="1428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BBC05"/>
                </a:solidFill>
                <a:latin typeface="Aptos"/>
                <a:ea typeface="Aptos"/>
                <a:cs typeface="Aptos"/>
              </a:defRPr>
            </a:pPr>
            <a:r>
              <a:t>3. Orchestrate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A216AD-673F-441C-BAA4-0EA2EF8CC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409950"/>
            <a:ext cx="13906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Schedule dbt tests and refreshes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4CD76A-6B55-40FC-ACB7-8476348F2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45757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085"/>
          </a:solidFill>
          <a:ln xmlns:a="http://schemas.openxmlformats.org/drawingml/2006/main" w="9525">
            <a:solidFill>
              <a:srgbClr val="667085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F6085E-35F2-461C-BEA5-8DAC3BCF0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343275"/>
            <a:ext cx="190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t>&gt;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04112B-703C-45B7-8A18-3617ECC29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2724150"/>
            <a:ext cx="18097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3DA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26DF63-5D26-4DE6-B069-60C29809F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990850"/>
            <a:ext cx="1428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A4335"/>
                </a:solidFill>
                <a:latin typeface="Aptos"/>
                <a:ea typeface="Aptos"/>
                <a:cs typeface="Aptos"/>
              </a:defRPr>
            </a:pPr>
            <a:r>
              <a:t>4. Enrich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F3128F-C346-4AFF-A5A4-27BD2C00E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409950"/>
            <a:ext cx="13906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12B"/>
                </a:solidFill>
                <a:latin typeface="Aptos"/>
                <a:ea typeface="Aptos"/>
                <a:cs typeface="Aptos"/>
              </a:defRPr>
            </a:pPr>
            <a:r>
              <a:t>Add weather, holidays, events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31586C4-9143-4D04-9395-7E62E8EC3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819650"/>
            <a:ext cx="814387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12B"/>
          </a:solidFill>
          <a:ln xmlns:a="http://schemas.openxmlformats.org/drawingml/2006/main" w="9525">
            <a:solidFill>
              <a:srgbClr val="18212B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1F6C207-97C7-40BF-88F4-FBC60957E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010150"/>
            <a:ext cx="7524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Bottom line: the pipeline is built, tested, and already producing operationally useful signals.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B3E14A-F12D-4FC1-9F68-53A185014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43650"/>
            <a:ext cx="8572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A8177"/>
                </a:solidFill>
                <a:latin typeface="Aptos"/>
                <a:ea typeface="Aptos"/>
                <a:cs typeface="Aptos"/>
              </a:defRPr>
            </a:pPr>
            <a:r>
              <a:t>Prepared for 10-minute executive presentation plus Q&amp;A.</a:t>
            </a:r>
          </a:p>
        </p:txBody>
      </p:sp>
    </p:spTree>
    <p:extLst>
      <p:ext uri="{BB962C8B-B14F-4D97-AF65-F5344CB8AC3E}">
        <p14:creationId xmlns:p14="http://schemas.microsoft.com/office/powerpoint/2010/main" val="165155430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2026-05-31T04:36:50.5040000Z</dcterms:created>
  <dcterms:modified xsi:type="dcterms:W3CDTF">2026-05-31T04:36:50.5040000Z</dcterms:modified>
</coreProperties>
</file>